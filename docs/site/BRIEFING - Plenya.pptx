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7556500" cy="10693400"/>
  <p:notesSz cx="6858000" cy="9144000"/>
  <p:embeddedFontLst>
    <p:embeddedFont>
      <p:font typeface="DM Sans" pitchFamily="2" charset="0"/>
      <p:regular r:id="rId26"/>
    </p:embeddedFont>
    <p:embeddedFont>
      <p:font typeface="DM Sans Bold" charset="0"/>
      <p:regular r:id="rId27"/>
    </p:embeddedFont>
    <p:embeddedFont>
      <p:font typeface="DM Serif Display" pitchFamily="2" charset="0"/>
      <p:regular r:id="rId28"/>
    </p:embeddedFont>
    <p:embeddedFont>
      <p:font typeface="Montserrat" panose="00000500000000000000" pitchFamily="2" charset="0"/>
      <p:regular r:id="rId29"/>
    </p:embeddedFont>
    <p:embeddedFont>
      <p:font typeface="Montserrat Bold" panose="00000800000000000000" charset="0"/>
      <p:regular r:id="rId30"/>
    </p:embeddedFont>
    <p:embeddedFont>
      <p:font typeface="Montserrat Medium" panose="00000600000000000000" pitchFamily="2" charset="0"/>
      <p:regular r:id="rId31"/>
    </p:embeddedFont>
    <p:embeddedFont>
      <p:font typeface="Montserrat Semi-Bold" panose="020B0604020202020204" charset="0"/>
      <p:regular r:id="rId32"/>
    </p:embeddedFont>
    <p:embeddedFont>
      <p:font typeface="Neue Montreal" panose="020B0604020202020204" charset="0"/>
      <p:regular r:id="rId33"/>
    </p:embeddedFont>
    <p:embeddedFont>
      <p:font typeface="Open Sans" panose="020B0606030504020204" pitchFamily="3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2635" y="-1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1E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60169" y="5739456"/>
            <a:ext cx="3439661" cy="6114953"/>
          </a:xfrm>
          <a:custGeom>
            <a:avLst/>
            <a:gdLst/>
            <a:ahLst/>
            <a:cxnLst/>
            <a:rect l="l" t="t" r="r" b="b"/>
            <a:pathLst>
              <a:path w="3439661" h="6114953">
                <a:moveTo>
                  <a:pt x="0" y="0"/>
                </a:moveTo>
                <a:lnTo>
                  <a:pt x="3439662" y="0"/>
                </a:lnTo>
                <a:lnTo>
                  <a:pt x="3439662" y="6114953"/>
                </a:lnTo>
                <a:lnTo>
                  <a:pt x="0" y="6114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920853" y="4330271"/>
            <a:ext cx="9401707" cy="140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74"/>
              </a:lnSpc>
              <a:spcBef>
                <a:spcPct val="0"/>
              </a:spcBef>
            </a:pPr>
            <a:r>
              <a:rPr lang="en-US" sz="8267" b="1" spc="82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BRIEFING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5710881"/>
            <a:ext cx="7560000" cy="29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9"/>
              </a:lnSpc>
            </a:pPr>
            <a:r>
              <a:rPr lang="en-US" sz="1749" spc="1152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HOAM DIGITAL- PLENYA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5709" y="1539520"/>
            <a:ext cx="6038291" cy="20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0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Empresa: _________________________________________________________________________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16401" y="1406598"/>
            <a:ext cx="6343070" cy="1180246"/>
            <a:chOff x="0" y="0"/>
            <a:chExt cx="2273213" cy="4229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73213" cy="422973"/>
            </a:xfrm>
            <a:custGeom>
              <a:avLst/>
              <a:gdLst/>
              <a:ahLst/>
              <a:cxnLst/>
              <a:rect l="l" t="t" r="r" b="b"/>
              <a:pathLst>
                <a:path w="2273213" h="422973">
                  <a:moveTo>
                    <a:pt x="30513" y="0"/>
                  </a:moveTo>
                  <a:lnTo>
                    <a:pt x="2242700" y="0"/>
                  </a:lnTo>
                  <a:cubicBezTo>
                    <a:pt x="2259552" y="0"/>
                    <a:pt x="2273213" y="13661"/>
                    <a:pt x="2273213" y="30513"/>
                  </a:cubicBezTo>
                  <a:lnTo>
                    <a:pt x="2273213" y="392460"/>
                  </a:lnTo>
                  <a:cubicBezTo>
                    <a:pt x="2273213" y="400553"/>
                    <a:pt x="2269998" y="408314"/>
                    <a:pt x="2264276" y="414036"/>
                  </a:cubicBezTo>
                  <a:cubicBezTo>
                    <a:pt x="2258553" y="419759"/>
                    <a:pt x="2250792" y="422973"/>
                    <a:pt x="2242700" y="422973"/>
                  </a:cubicBezTo>
                  <a:lnTo>
                    <a:pt x="30513" y="422973"/>
                  </a:lnTo>
                  <a:cubicBezTo>
                    <a:pt x="22421" y="422973"/>
                    <a:pt x="14659" y="419759"/>
                    <a:pt x="8937" y="414036"/>
                  </a:cubicBezTo>
                  <a:cubicBezTo>
                    <a:pt x="3215" y="408314"/>
                    <a:pt x="0" y="400553"/>
                    <a:pt x="0" y="392460"/>
                  </a:cubicBezTo>
                  <a:lnTo>
                    <a:pt x="0" y="30513"/>
                  </a:lnTo>
                  <a:cubicBezTo>
                    <a:pt x="0" y="22421"/>
                    <a:pt x="3215" y="14659"/>
                    <a:pt x="8937" y="8937"/>
                  </a:cubicBezTo>
                  <a:cubicBezTo>
                    <a:pt x="14659" y="3215"/>
                    <a:pt x="22421" y="0"/>
                    <a:pt x="30513" y="0"/>
                  </a:cubicBez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73213" cy="4610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1764" y="5695952"/>
            <a:ext cx="6343070" cy="3811794"/>
            <a:chOff x="0" y="0"/>
            <a:chExt cx="2273213" cy="13660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73213" cy="1366061"/>
            </a:xfrm>
            <a:custGeom>
              <a:avLst/>
              <a:gdLst/>
              <a:ahLst/>
              <a:cxnLst/>
              <a:rect l="l" t="t" r="r" b="b"/>
              <a:pathLst>
                <a:path w="2273213" h="1366061">
                  <a:moveTo>
                    <a:pt x="30513" y="0"/>
                  </a:moveTo>
                  <a:lnTo>
                    <a:pt x="2242700" y="0"/>
                  </a:lnTo>
                  <a:cubicBezTo>
                    <a:pt x="2259552" y="0"/>
                    <a:pt x="2273213" y="13661"/>
                    <a:pt x="2273213" y="30513"/>
                  </a:cubicBezTo>
                  <a:lnTo>
                    <a:pt x="2273213" y="1335548"/>
                  </a:lnTo>
                  <a:cubicBezTo>
                    <a:pt x="2273213" y="1343640"/>
                    <a:pt x="2269998" y="1351402"/>
                    <a:pt x="2264276" y="1357124"/>
                  </a:cubicBezTo>
                  <a:cubicBezTo>
                    <a:pt x="2258553" y="1362846"/>
                    <a:pt x="2250792" y="1366061"/>
                    <a:pt x="2242700" y="1366061"/>
                  </a:cubicBezTo>
                  <a:lnTo>
                    <a:pt x="30513" y="1366061"/>
                  </a:lnTo>
                  <a:cubicBezTo>
                    <a:pt x="22421" y="1366061"/>
                    <a:pt x="14659" y="1362846"/>
                    <a:pt x="8937" y="1357124"/>
                  </a:cubicBezTo>
                  <a:cubicBezTo>
                    <a:pt x="3215" y="1351402"/>
                    <a:pt x="0" y="1343640"/>
                    <a:pt x="0" y="1335548"/>
                  </a:cubicBezTo>
                  <a:lnTo>
                    <a:pt x="0" y="30513"/>
                  </a:lnTo>
                  <a:cubicBezTo>
                    <a:pt x="0" y="22421"/>
                    <a:pt x="3215" y="14659"/>
                    <a:pt x="8937" y="8937"/>
                  </a:cubicBezTo>
                  <a:cubicBezTo>
                    <a:pt x="14659" y="3215"/>
                    <a:pt x="22421" y="0"/>
                    <a:pt x="30513" y="0"/>
                  </a:cubicBez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73213" cy="14041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-257965" y="10276197"/>
            <a:ext cx="8075930" cy="421771"/>
          </a:xfrm>
          <a:prstGeom prst="rect">
            <a:avLst/>
          </a:prstGeom>
          <a:solidFill>
            <a:srgbClr val="381E4E"/>
          </a:solidFill>
        </p:spPr>
      </p:sp>
      <p:sp>
        <p:nvSpPr>
          <p:cNvPr id="10" name="Freeform 10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42230" y="4441972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Google meu negócio: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2230" y="2800322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Facebook: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44256" y="761610"/>
            <a:ext cx="4054709" cy="31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2"/>
              </a:lnSpc>
            </a:pPr>
            <a:r>
              <a:rPr lang="en-US" sz="1872" b="1" spc="19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BRIEFING ESTRATÉGICO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5709" y="1792376"/>
            <a:ext cx="6038291" cy="20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0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Nicho: ________________________  Horários: _________________________________________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5709" y="2305840"/>
            <a:ext cx="6038291" cy="20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0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Email: ____________________________________________________________________________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24286" y="2838422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24286" y="3077360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2230" y="3048608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Instagram: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2230" y="3277613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Youtube: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2230" y="3496877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Tiktok: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2230" y="3716588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Pinterest: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2230" y="3964874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Site: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2230" y="4203619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Whatsapp: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2230" y="5067074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Outros: ___________________________________________________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0861" y="5867402"/>
            <a:ext cx="1846789" cy="24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9"/>
              </a:lnSpc>
            </a:pPr>
            <a:r>
              <a:rPr lang="en-US" sz="1413" b="1" spc="1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Sobre a empresa: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8790" y="2044312"/>
            <a:ext cx="6038291" cy="20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0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Responsável: _____________________________________________________________________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21406" y="3315713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21406" y="3554650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21406" y="3783478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21406" y="4022416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21406" y="4260769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21406" y="4499706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0861" y="6291331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Costuma postar com frequencia?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32201" y="6329431"/>
            <a:ext cx="1908298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0861" y="6569109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Já contratou um Social Media?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32201" y="6607209"/>
            <a:ext cx="1908298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0861" y="6845970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Já comprou seguidores?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432201" y="6884070"/>
            <a:ext cx="1908298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0861" y="7137103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Já participou de grandes sorteios?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432201" y="7175203"/>
            <a:ext cx="1908298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0861" y="7414880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Já impulsionou publicações?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432201" y="7452980"/>
            <a:ext cx="1908298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0861" y="7691741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Já fez anúncios pelo facebook?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432201" y="7729841"/>
            <a:ext cx="1908298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5250" y="8445479"/>
            <a:ext cx="5998502" cy="86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Outros: __________________________________________________________________________</a:t>
            </a:r>
          </a:p>
          <a:p>
            <a:pPr algn="l">
              <a:lnSpc>
                <a:spcPts val="1168"/>
              </a:lnSpc>
            </a:pPr>
            <a:endParaRPr lang="en-US" sz="1099" b="1" spc="2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__________________________________________________________________________________</a:t>
            </a:r>
          </a:p>
          <a:p>
            <a:pPr algn="l">
              <a:lnSpc>
                <a:spcPts val="1168"/>
              </a:lnSpc>
            </a:pPr>
            <a:endParaRPr lang="en-US" sz="1099" b="1" spc="2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__________________________________________________________________________________</a:t>
            </a:r>
          </a:p>
          <a:p>
            <a:pPr algn="l">
              <a:lnSpc>
                <a:spcPts val="1168"/>
              </a:lnSpc>
            </a:pPr>
            <a:endParaRPr lang="en-US" sz="1099" b="1" spc="2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20861" y="7997177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Utiliza mídia Offine?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432201" y="8035277"/>
            <a:ext cx="1908298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42230" y="4652334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Email Marketing: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821406" y="4738898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96425"/>
            <a:ext cx="7560000" cy="3707068"/>
            <a:chOff x="0" y="0"/>
            <a:chExt cx="10080000" cy="494275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4924" b="21472"/>
            <a:stretch>
              <a:fillRect/>
            </a:stretch>
          </p:blipFill>
          <p:spPr>
            <a:xfrm>
              <a:off x="0" y="0"/>
              <a:ext cx="10080000" cy="4942757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2904385" y="8365244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49349" y="3679289"/>
            <a:ext cx="5061302" cy="620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4"/>
              </a:lnSpc>
            </a:pPr>
            <a:r>
              <a:rPr lang="en-US" sz="3696" spc="199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História da empresa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96425"/>
            <a:ext cx="7560000" cy="3707068"/>
            <a:chOff x="0" y="0"/>
            <a:chExt cx="10080000" cy="494275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1232" b="5305"/>
            <a:stretch>
              <a:fillRect/>
            </a:stretch>
          </p:blipFill>
          <p:spPr>
            <a:xfrm>
              <a:off x="0" y="0"/>
              <a:ext cx="10080000" cy="494275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375389" y="3974146"/>
            <a:ext cx="6913476" cy="6276332"/>
            <a:chOff x="0" y="0"/>
            <a:chExt cx="2525997" cy="22932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25997" cy="2293202"/>
            </a:xfrm>
            <a:custGeom>
              <a:avLst/>
              <a:gdLst/>
              <a:ahLst/>
              <a:cxnLst/>
              <a:rect l="l" t="t" r="r" b="b"/>
              <a:pathLst>
                <a:path w="2525997" h="2293202">
                  <a:moveTo>
                    <a:pt x="0" y="0"/>
                  </a:moveTo>
                  <a:lnTo>
                    <a:pt x="2525997" y="0"/>
                  </a:lnTo>
                  <a:lnTo>
                    <a:pt x="2525997" y="2293202"/>
                  </a:lnTo>
                  <a:lnTo>
                    <a:pt x="0" y="2293202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525997" cy="2331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8640" y="2897523"/>
            <a:ext cx="9056010" cy="39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2356" spc="24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Produtos</a:t>
            </a:r>
            <a:r>
              <a:rPr lang="en-US" sz="2356" spc="24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2356" spc="24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Serviços</a:t>
            </a:r>
            <a:r>
              <a:rPr lang="en-US" sz="2356" spc="24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</p:txBody>
      </p:sp>
      <p:sp>
        <p:nvSpPr>
          <p:cNvPr id="8" name="Freeform 8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00440" y="2401228"/>
            <a:ext cx="2632554" cy="3174989"/>
            <a:chOff x="0" y="0"/>
            <a:chExt cx="3510072" cy="42333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40924" r="12463"/>
            <a:stretch>
              <a:fillRect/>
            </a:stretch>
          </p:blipFill>
          <p:spPr>
            <a:xfrm>
              <a:off x="0" y="0"/>
              <a:ext cx="3510072" cy="4233319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26571" y="2607771"/>
            <a:ext cx="2037375" cy="254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4"/>
              </a:lnSpc>
              <a:spcBef>
                <a:spcPct val="0"/>
              </a:spcBef>
            </a:pPr>
            <a:r>
              <a:rPr lang="en-US" sz="1524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Características gerais: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-2883"/>
            <a:ext cx="6176994" cy="240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12"/>
              </a:lnSpc>
              <a:spcBef>
                <a:spcPct val="0"/>
              </a:spcBef>
            </a:pPr>
            <a:r>
              <a:rPr lang="en-US" sz="14151">
                <a:solidFill>
                  <a:srgbClr val="381E4E">
                    <a:alpha val="14902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público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6571" y="3071860"/>
            <a:ext cx="2495252" cy="207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3"/>
              </a:lnSpc>
            </a:pPr>
            <a:r>
              <a:rPr lang="en-US" sz="1209" b="1">
                <a:solidFill>
                  <a:srgbClr val="381E4E"/>
                </a:solidFill>
                <a:latin typeface="DM Sans Bold"/>
                <a:ea typeface="DM Sans Bold"/>
                <a:cs typeface="DM Sans Bold"/>
                <a:sym typeface="DM Sans Bold"/>
              </a:rPr>
              <a:t>*Idade, Classe Social, Localização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6571" y="2607771"/>
            <a:ext cx="2037375" cy="254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4"/>
              </a:lnSpc>
              <a:spcBef>
                <a:spcPct val="0"/>
              </a:spcBef>
            </a:pPr>
            <a:r>
              <a:rPr lang="en-US" sz="1524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Dores e Objeções: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-2883"/>
            <a:ext cx="6176994" cy="240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812"/>
              </a:lnSpc>
              <a:spcBef>
                <a:spcPct val="0"/>
              </a:spcBef>
            </a:pPr>
            <a:r>
              <a:rPr lang="en-US" sz="14151">
                <a:solidFill>
                  <a:srgbClr val="381E4E">
                    <a:alpha val="14902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público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300440" y="2636346"/>
            <a:ext cx="2632554" cy="3022933"/>
            <a:chOff x="0" y="0"/>
            <a:chExt cx="3510072" cy="4030577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>
              <a:alphaModFix amt="92000"/>
            </a:blip>
            <a:srcRect l="20989" r="20989"/>
            <a:stretch>
              <a:fillRect/>
            </a:stretch>
          </p:blipFill>
          <p:spPr>
            <a:xfrm>
              <a:off x="0" y="0"/>
              <a:ext cx="3510072" cy="4030577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4300440" y="5829429"/>
            <a:ext cx="2632554" cy="3275701"/>
            <a:chOff x="0" y="0"/>
            <a:chExt cx="3510072" cy="4367601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92000"/>
            </a:blip>
            <a:srcRect l="23228" r="23228"/>
            <a:stretch>
              <a:fillRect/>
            </a:stretch>
          </p:blipFill>
          <p:spPr>
            <a:xfrm>
              <a:off x="0" y="0"/>
              <a:ext cx="3510072" cy="4367601"/>
            </a:xfrm>
            <a:prstGeom prst="rect">
              <a:avLst/>
            </a:prstGeom>
          </p:spPr>
        </p:pic>
      </p:grpSp>
      <p:sp>
        <p:nvSpPr>
          <p:cNvPr id="8" name="TextBox 8"/>
          <p:cNvSpPr txBox="1"/>
          <p:nvPr/>
        </p:nvSpPr>
        <p:spPr>
          <a:xfrm>
            <a:off x="926571" y="5800854"/>
            <a:ext cx="2037375" cy="254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4"/>
              </a:lnSpc>
              <a:spcBef>
                <a:spcPct val="0"/>
              </a:spcBef>
            </a:pPr>
            <a:r>
              <a:rPr lang="en-US" sz="1524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Desejos e Sonhos: </a:t>
            </a:r>
          </a:p>
        </p:txBody>
      </p:sp>
      <p:sp>
        <p:nvSpPr>
          <p:cNvPr id="9" name="Freeform 9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3262" y="1094188"/>
            <a:ext cx="6913476" cy="3241620"/>
            <a:chOff x="0" y="0"/>
            <a:chExt cx="2525997" cy="118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25997" cy="1184400"/>
            </a:xfrm>
            <a:custGeom>
              <a:avLst/>
              <a:gdLst/>
              <a:ahLst/>
              <a:cxnLst/>
              <a:rect l="l" t="t" r="r" b="b"/>
              <a:pathLst>
                <a:path w="2525997" h="1184400">
                  <a:moveTo>
                    <a:pt x="0" y="0"/>
                  </a:moveTo>
                  <a:lnTo>
                    <a:pt x="2525997" y="0"/>
                  </a:lnTo>
                  <a:lnTo>
                    <a:pt x="2525997" y="1184400"/>
                  </a:lnTo>
                  <a:lnTo>
                    <a:pt x="0" y="1184400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25997" cy="122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3262" y="466771"/>
            <a:ext cx="6814178" cy="56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33" u="none" strike="noStrike" spc="46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Como você deseja que os consumidores descrevam sua marca?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23262" y="4967164"/>
            <a:ext cx="6913476" cy="2172395"/>
            <a:chOff x="0" y="0"/>
            <a:chExt cx="2525997" cy="7937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25997" cy="793734"/>
            </a:xfrm>
            <a:custGeom>
              <a:avLst/>
              <a:gdLst/>
              <a:ahLst/>
              <a:cxnLst/>
              <a:rect l="l" t="t" r="r" b="b"/>
              <a:pathLst>
                <a:path w="2525997" h="793734">
                  <a:moveTo>
                    <a:pt x="0" y="0"/>
                  </a:moveTo>
                  <a:lnTo>
                    <a:pt x="2525997" y="0"/>
                  </a:lnTo>
                  <a:lnTo>
                    <a:pt x="2525997" y="793734"/>
                  </a:lnTo>
                  <a:lnTo>
                    <a:pt x="0" y="793734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25997" cy="831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23262" y="4531529"/>
            <a:ext cx="6720993" cy="28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</a:pPr>
            <a:r>
              <a:rPr lang="en-US" sz="1933" spc="46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Onde deseja chegar com sua marca no futuro?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23262" y="7746644"/>
            <a:ext cx="6913476" cy="1339028"/>
            <a:chOff x="0" y="0"/>
            <a:chExt cx="2525997" cy="4892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25997" cy="489245"/>
            </a:xfrm>
            <a:custGeom>
              <a:avLst/>
              <a:gdLst/>
              <a:ahLst/>
              <a:cxnLst/>
              <a:rect l="l" t="t" r="r" b="b"/>
              <a:pathLst>
                <a:path w="2525997" h="489245">
                  <a:moveTo>
                    <a:pt x="0" y="0"/>
                  </a:moveTo>
                  <a:lnTo>
                    <a:pt x="2525997" y="0"/>
                  </a:lnTo>
                  <a:lnTo>
                    <a:pt x="2525997" y="489245"/>
                  </a:lnTo>
                  <a:lnTo>
                    <a:pt x="0" y="489245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525997" cy="527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23262" y="7265484"/>
            <a:ext cx="6720993" cy="28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</a:pPr>
            <a:r>
              <a:rPr lang="en-US" sz="1933" spc="46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Em uma frase: o que sua marca resolve? Qual a promessa? </a:t>
            </a:r>
          </a:p>
        </p:txBody>
      </p:sp>
      <p:sp>
        <p:nvSpPr>
          <p:cNvPr id="14" name="Freeform 14"/>
          <p:cNvSpPr/>
          <p:nvPr/>
        </p:nvSpPr>
        <p:spPr>
          <a:xfrm>
            <a:off x="2904385" y="7960288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1692366"/>
            <a:ext cx="6048000" cy="2881394"/>
            <a:chOff x="0" y="0"/>
            <a:chExt cx="2330233" cy="11101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233" cy="1110171"/>
            </a:xfrm>
            <a:custGeom>
              <a:avLst/>
              <a:gdLst/>
              <a:ahLst/>
              <a:cxnLst/>
              <a:rect l="l" t="t" r="r" b="b"/>
              <a:pathLst>
                <a:path w="2330233" h="1110171">
                  <a:moveTo>
                    <a:pt x="0" y="0"/>
                  </a:moveTo>
                  <a:lnTo>
                    <a:pt x="2330233" y="0"/>
                  </a:lnTo>
                  <a:lnTo>
                    <a:pt x="2330233" y="1110171"/>
                  </a:lnTo>
                  <a:lnTo>
                    <a:pt x="0" y="1110171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30233" cy="11482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81587" y="1890176"/>
            <a:ext cx="3055879" cy="25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Responsabilidade social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Transparência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Inteligência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Resultados extraordinários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Integridade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Honestidade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Inovação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12239" y="1895532"/>
            <a:ext cx="2171328" cy="220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Humildade </a:t>
            </a:r>
          </a:p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Sustentabilidade </a:t>
            </a:r>
          </a:p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Inspiração </a:t>
            </a:r>
          </a:p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Flexibilidade </a:t>
            </a:r>
          </a:p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Lealdade </a:t>
            </a:r>
          </a:p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Humanidade </a:t>
            </a:r>
          </a:p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Evolução continua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016" y="906594"/>
            <a:ext cx="6048984" cy="66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12"/>
              </a:lnSpc>
              <a:spcBef>
                <a:spcPct val="0"/>
              </a:spcBef>
            </a:pPr>
            <a:r>
              <a:rPr lang="en-US" sz="2214" u="none" strike="noStrike" spc="53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Grife quais desses valores os consumidores podem encontrar em sua marca: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6000" y="5040484"/>
            <a:ext cx="6048984" cy="987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12"/>
              </a:lnSpc>
              <a:spcBef>
                <a:spcPct val="0"/>
              </a:spcBef>
            </a:pPr>
            <a:r>
              <a:rPr lang="en-US" sz="2214" spc="53">
                <a:solidFill>
                  <a:srgbClr val="041E4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Agora grife quais dessas emoções você deseja que os consumidores sintam ao ver sua marca nas redes sociais: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56984" y="6494726"/>
            <a:ext cx="6048000" cy="2757783"/>
            <a:chOff x="0" y="0"/>
            <a:chExt cx="2330233" cy="10625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30233" cy="1062546"/>
            </a:xfrm>
            <a:custGeom>
              <a:avLst/>
              <a:gdLst/>
              <a:ahLst/>
              <a:cxnLst/>
              <a:rect l="l" t="t" r="r" b="b"/>
              <a:pathLst>
                <a:path w="2330233" h="1062546">
                  <a:moveTo>
                    <a:pt x="0" y="0"/>
                  </a:moveTo>
                  <a:lnTo>
                    <a:pt x="2330233" y="0"/>
                  </a:lnTo>
                  <a:lnTo>
                    <a:pt x="2330233" y="1062546"/>
                  </a:lnTo>
                  <a:lnTo>
                    <a:pt x="0" y="1062546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330233" cy="1100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81587" y="6625568"/>
            <a:ext cx="2340557" cy="25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Alegria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Confiança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Empoderamento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Afeto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Surpresa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Coragem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Conquista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Satisfação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12239" y="6625568"/>
            <a:ext cx="2354461" cy="25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Adoração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Alivio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Admiração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Excitação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Calma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Interesse </a:t>
            </a:r>
          </a:p>
          <a:p>
            <a:pPr algn="l">
              <a:lnSpc>
                <a:spcPts val="2491"/>
              </a:lnSpc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Apreciação estética </a:t>
            </a:r>
          </a:p>
          <a:p>
            <a:pPr marL="0" lvl="1" indent="0" algn="l">
              <a:lnSpc>
                <a:spcPts val="2491"/>
              </a:lnSpc>
              <a:spcBef>
                <a:spcPct val="0"/>
              </a:spcBef>
            </a:pPr>
            <a:r>
              <a:rPr lang="en-US" sz="2204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Nostalgia </a:t>
            </a:r>
          </a:p>
        </p:txBody>
      </p:sp>
      <p:sp>
        <p:nvSpPr>
          <p:cNvPr id="14" name="Freeform 14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15" y="1570904"/>
            <a:ext cx="6490370" cy="7658278"/>
            <a:chOff x="0" y="0"/>
            <a:chExt cx="2671114" cy="3151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71114" cy="3151767"/>
            </a:xfrm>
            <a:custGeom>
              <a:avLst/>
              <a:gdLst/>
              <a:ahLst/>
              <a:cxnLst/>
              <a:rect l="l" t="t" r="r" b="b"/>
              <a:pathLst>
                <a:path w="2671114" h="3151767">
                  <a:moveTo>
                    <a:pt x="0" y="0"/>
                  </a:moveTo>
                  <a:lnTo>
                    <a:pt x="2671114" y="0"/>
                  </a:lnTo>
                  <a:lnTo>
                    <a:pt x="2671114" y="3151767"/>
                  </a:lnTo>
                  <a:lnTo>
                    <a:pt x="0" y="3151767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71114" cy="3189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85727" y="1809056"/>
            <a:ext cx="1701292" cy="742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Digital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Conectada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Feliz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Suave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Inteligente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Amigável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Romantica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Organizado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Humana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Feminina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Ousada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Moderna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Clean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Família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Inocente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Colorida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Classe alta </a:t>
            </a:r>
          </a:p>
          <a:p>
            <a:pPr algn="l">
              <a:lnSpc>
                <a:spcPts val="3125"/>
              </a:lnSpc>
            </a:pPr>
            <a:r>
              <a:rPr lang="en-US" sz="2480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Gráfica</a:t>
            </a:r>
          </a:p>
          <a:p>
            <a:pPr algn="l">
              <a:lnSpc>
                <a:spcPts val="3125"/>
              </a:lnSpc>
            </a:pPr>
            <a:endParaRPr lang="en-US" sz="2480">
              <a:solidFill>
                <a:srgbClr val="041E42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166353" y="1809056"/>
            <a:ext cx="1555552" cy="742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Fun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Brilhante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Vintage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Glamour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Boêmio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Minimalista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Espirituoso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Artista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Zen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Jovem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Livre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Simples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Imaginativo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Aventureira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Objetiva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Real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Clássica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Amigável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endParaRPr lang="en-US" sz="2480" u="none" strike="noStrike">
              <a:solidFill>
                <a:srgbClr val="041E42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4815" y="886818"/>
            <a:ext cx="6462414" cy="581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0"/>
              </a:lnSpc>
              <a:spcBef>
                <a:spcPct val="0"/>
              </a:spcBef>
            </a:pPr>
            <a:r>
              <a:rPr lang="en-US" sz="1949" spc="46">
                <a:solidFill>
                  <a:srgbClr val="041E4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Defina agora quais são os estilos e/ou personalidades que mais representam a sua marca: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40438" y="1809056"/>
            <a:ext cx="2191196" cy="742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Casual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Independente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Fresca, leve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Acolhedor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Cool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Bem sucedida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Confortável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Corporativo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Contemporânea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Conservador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Original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Industrial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Trendy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Regida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Arejada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Calma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Retrô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r>
              <a:rPr lang="en-US" sz="2480" u="none" strike="noStrike">
                <a:solidFill>
                  <a:srgbClr val="041E42"/>
                </a:solidFill>
                <a:latin typeface="Neue Montreal"/>
                <a:ea typeface="Neue Montreal"/>
                <a:cs typeface="Neue Montreal"/>
                <a:sym typeface="Neue Montreal"/>
              </a:rPr>
              <a:t>Única  </a:t>
            </a:r>
          </a:p>
          <a:p>
            <a:pPr marL="0" lvl="1" indent="0" algn="l">
              <a:lnSpc>
                <a:spcPts val="3125"/>
              </a:lnSpc>
              <a:spcBef>
                <a:spcPct val="0"/>
              </a:spcBef>
            </a:pPr>
            <a:endParaRPr lang="en-US" sz="2480" u="none" strike="noStrike">
              <a:solidFill>
                <a:srgbClr val="041E42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523074"/>
            <a:ext cx="3694155" cy="6599051"/>
            <a:chOff x="0" y="0"/>
            <a:chExt cx="4925540" cy="879873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39" r="239"/>
            <a:stretch>
              <a:fillRect/>
            </a:stretch>
          </p:blipFill>
          <p:spPr>
            <a:xfrm>
              <a:off x="0" y="0"/>
              <a:ext cx="4925540" cy="8798734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2699375" y="2634322"/>
            <a:ext cx="4299851" cy="6802592"/>
            <a:chOff x="0" y="0"/>
            <a:chExt cx="1619274" cy="25617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19274" cy="2561778"/>
            </a:xfrm>
            <a:custGeom>
              <a:avLst/>
              <a:gdLst/>
              <a:ahLst/>
              <a:cxnLst/>
              <a:rect l="l" t="t" r="r" b="b"/>
              <a:pathLst>
                <a:path w="1619274" h="2561778">
                  <a:moveTo>
                    <a:pt x="0" y="0"/>
                  </a:moveTo>
                  <a:lnTo>
                    <a:pt x="1619274" y="0"/>
                  </a:lnTo>
                  <a:lnTo>
                    <a:pt x="1619274" y="2561778"/>
                  </a:lnTo>
                  <a:lnTo>
                    <a:pt x="0" y="2561778"/>
                  </a:lnTo>
                  <a:close/>
                </a:path>
              </a:pathLst>
            </a:custGeom>
            <a:solidFill>
              <a:srgbClr val="381E4E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80000" y="1044215"/>
            <a:ext cx="3219226" cy="1188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7"/>
              </a:lnSpc>
            </a:pPr>
            <a:r>
              <a:rPr lang="en-US" sz="5998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objetivos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05420" y="1745035"/>
            <a:ext cx="3049085" cy="24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0"/>
              </a:lnSpc>
              <a:spcBef>
                <a:spcPct val="0"/>
              </a:spcBef>
            </a:pPr>
            <a:r>
              <a:rPr lang="en-US" sz="1656" spc="36" dirty="0">
                <a:solidFill>
                  <a:srgbClr val="041E4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CONCORRENTES DIRETOS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05420" y="4357684"/>
            <a:ext cx="3049085" cy="24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0"/>
              </a:lnSpc>
              <a:spcBef>
                <a:spcPct val="0"/>
              </a:spcBef>
            </a:pPr>
            <a:r>
              <a:rPr lang="en-US" sz="1656" u="none" strike="noStrike" spc="36" dirty="0">
                <a:solidFill>
                  <a:srgbClr val="041E4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CONCORRENTES INDIRETOS</a:t>
            </a:r>
          </a:p>
        </p:txBody>
      </p:sp>
      <p:sp>
        <p:nvSpPr>
          <p:cNvPr id="4" name="TextBox 4"/>
          <p:cNvSpPr txBox="1"/>
          <p:nvPr/>
        </p:nvSpPr>
        <p:spPr>
          <a:xfrm rot="-5400000">
            <a:off x="-4608931" y="3952621"/>
            <a:ext cx="10692000" cy="2755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79"/>
              </a:lnSpc>
              <a:spcBef>
                <a:spcPct val="0"/>
              </a:spcBef>
            </a:pPr>
            <a:r>
              <a:rPr lang="en-US" sz="19848" spc="377">
                <a:solidFill>
                  <a:srgbClr val="381E4E">
                    <a:alpha val="14902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mercado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24474" y="6996171"/>
            <a:ext cx="3049085" cy="24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0"/>
              </a:lnSpc>
              <a:spcBef>
                <a:spcPct val="0"/>
              </a:spcBef>
            </a:pPr>
            <a:r>
              <a:rPr lang="en-US" sz="1656" u="none" strike="noStrike" spc="36">
                <a:solidFill>
                  <a:srgbClr val="041E4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PERFIS DE REFERÊNCIA</a:t>
            </a:r>
          </a:p>
        </p:txBody>
      </p:sp>
      <p:sp>
        <p:nvSpPr>
          <p:cNvPr id="6" name="Freeform 6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7970" y="6254619"/>
            <a:ext cx="2740943" cy="940902"/>
            <a:chOff x="0" y="0"/>
            <a:chExt cx="3654591" cy="125453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95000"/>
            </a:blip>
            <a:srcRect t="24289" b="24289"/>
            <a:stretch>
              <a:fillRect/>
            </a:stretch>
          </p:blipFill>
          <p:spPr>
            <a:xfrm>
              <a:off x="0" y="0"/>
              <a:ext cx="3654591" cy="1254535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3984644" y="6254619"/>
            <a:ext cx="2740943" cy="940902"/>
            <a:chOff x="0" y="0"/>
            <a:chExt cx="3654591" cy="1254535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95000"/>
            </a:blip>
            <a:srcRect t="24289" b="24289"/>
            <a:stretch>
              <a:fillRect/>
            </a:stretch>
          </p:blipFill>
          <p:spPr>
            <a:xfrm>
              <a:off x="0" y="0"/>
              <a:ext cx="3654591" cy="1254535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831191" y="2119548"/>
            <a:ext cx="2740943" cy="940902"/>
            <a:chOff x="0" y="0"/>
            <a:chExt cx="3654591" cy="1254535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>
              <a:alphaModFix amt="95000"/>
            </a:blip>
            <a:srcRect t="24236" b="24236"/>
            <a:stretch>
              <a:fillRect/>
            </a:stretch>
          </p:blipFill>
          <p:spPr>
            <a:xfrm>
              <a:off x="0" y="0"/>
              <a:ext cx="3654591" cy="1254535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3987866" y="2081448"/>
            <a:ext cx="2740943" cy="940902"/>
            <a:chOff x="0" y="0"/>
            <a:chExt cx="3654591" cy="1254535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95000"/>
            </a:blip>
            <a:srcRect t="27949" b="27949"/>
            <a:stretch>
              <a:fillRect/>
            </a:stretch>
          </p:blipFill>
          <p:spPr>
            <a:xfrm>
              <a:off x="0" y="0"/>
              <a:ext cx="3654591" cy="1254535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827970" y="7838240"/>
            <a:ext cx="2780149" cy="130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799"/>
              </a:lnSpc>
              <a:spcBef>
                <a:spcPct val="0"/>
              </a:spcBef>
            </a:pPr>
            <a:r>
              <a:rPr lang="en-US" sz="1199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São forças externas que impactam positivamente a empresa. Você não pode controlá-las, mas pode usufruir delas – desde que sejam reais e possuam embasamento em pesquisas ou estudos.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23851" y="7791068"/>
            <a:ext cx="2780149" cy="152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799"/>
              </a:lnSpc>
              <a:spcBef>
                <a:spcPct val="0"/>
              </a:spcBef>
            </a:pPr>
            <a:r>
              <a:rPr lang="en-US" sz="1199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forças externas que influenciam negativamente o negócio. Do que você tem medo? Se isso acontecer realmente, já sabe o que fazer? É necessário pensar em possíveis eventos que prejudicariam os lucros e o empreendimento como um todo.</a:t>
            </a:r>
          </a:p>
        </p:txBody>
      </p:sp>
      <p:sp>
        <p:nvSpPr>
          <p:cNvPr id="12" name="Freeform 12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91985" y="3193800"/>
            <a:ext cx="2625090" cy="25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8"/>
              </a:lnSpc>
              <a:spcBef>
                <a:spcPct val="0"/>
              </a:spcBef>
            </a:pPr>
            <a:r>
              <a:rPr lang="en-US" sz="1556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PONTOS FORTES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48659" y="3193800"/>
            <a:ext cx="2511180" cy="24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8"/>
              </a:lnSpc>
              <a:spcBef>
                <a:spcPct val="0"/>
              </a:spcBef>
            </a:pPr>
            <a:r>
              <a:rPr lang="en-US" sz="1556" u="none" strike="noStrike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PONTOS FRACOS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7970" y="7369068"/>
            <a:ext cx="2625090" cy="24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8"/>
              </a:lnSpc>
              <a:spcBef>
                <a:spcPct val="0"/>
              </a:spcBef>
            </a:pPr>
            <a:r>
              <a:rPr lang="en-US" sz="1556" u="none" strike="noStrike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OPORTUNIDADES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84644" y="7369068"/>
            <a:ext cx="2511180" cy="24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8"/>
              </a:lnSpc>
              <a:spcBef>
                <a:spcPct val="0"/>
              </a:spcBef>
            </a:pPr>
            <a:r>
              <a:rPr lang="en-US" sz="1556" u="none" strike="noStrike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AMEAÇAS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4183" y="1190"/>
            <a:ext cx="6351635" cy="180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21"/>
              </a:lnSpc>
            </a:pPr>
            <a:r>
              <a:rPr lang="en-US" sz="9066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análise swot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1985" y="3620266"/>
            <a:ext cx="2780149" cy="217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799"/>
              </a:lnSpc>
              <a:spcBef>
                <a:spcPct val="0"/>
              </a:spcBef>
            </a:pPr>
            <a:r>
              <a:rPr lang="en-US" sz="1199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São as vantagens que a empresa possui em relação aos concorrentes. Seus diferenciais competitivos, as aptidões mais fortes do  negócio. Podem dizer respeito também aos elementos internos que beneficiam o o empreendimento ou fatores que estão sob  controle – que a empresa consegue, por exemplo, decidir se mantém ou não.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87866" y="3620266"/>
            <a:ext cx="2780149" cy="217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99"/>
              </a:lnSpc>
            </a:pPr>
            <a:r>
              <a:rPr lang="en-US" sz="1199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São pontos que podem prejudicar e/ou interferir negativamente no andamento da empresa. </a:t>
            </a:r>
          </a:p>
          <a:p>
            <a:pPr algn="just">
              <a:lnSpc>
                <a:spcPts val="1799"/>
              </a:lnSpc>
            </a:pPr>
            <a:endParaRPr lang="en-US" sz="1199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>
              <a:lnSpc>
                <a:spcPts val="1799"/>
              </a:lnSpc>
              <a:spcBef>
                <a:spcPct val="0"/>
              </a:spcBef>
            </a:pPr>
            <a:r>
              <a:rPr lang="en-US" sz="1199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Caso não seja possível solucioná-los a curto prazo, o recomendado é tentar ao menos reduzir seus efeitos ou contorná-los, para que eles estejam mais próximos de ser uma força do que uma fraqueza.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9413" y="756000"/>
            <a:ext cx="6621174" cy="1712106"/>
            <a:chOff x="0" y="0"/>
            <a:chExt cx="2372879" cy="6135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2879" cy="613580"/>
            </a:xfrm>
            <a:custGeom>
              <a:avLst/>
              <a:gdLst/>
              <a:ahLst/>
              <a:cxnLst/>
              <a:rect l="l" t="t" r="r" b="b"/>
              <a:pathLst>
                <a:path w="2372879" h="613580">
                  <a:moveTo>
                    <a:pt x="29232" y="0"/>
                  </a:moveTo>
                  <a:lnTo>
                    <a:pt x="2343648" y="0"/>
                  </a:lnTo>
                  <a:cubicBezTo>
                    <a:pt x="2351400" y="0"/>
                    <a:pt x="2358836" y="3080"/>
                    <a:pt x="2364318" y="8562"/>
                  </a:cubicBezTo>
                  <a:cubicBezTo>
                    <a:pt x="2369800" y="14044"/>
                    <a:pt x="2372879" y="21479"/>
                    <a:pt x="2372879" y="29232"/>
                  </a:cubicBezTo>
                  <a:lnTo>
                    <a:pt x="2372879" y="584348"/>
                  </a:lnTo>
                  <a:cubicBezTo>
                    <a:pt x="2372879" y="600493"/>
                    <a:pt x="2359792" y="613580"/>
                    <a:pt x="2343648" y="613580"/>
                  </a:cubicBezTo>
                  <a:lnTo>
                    <a:pt x="29232" y="613580"/>
                  </a:lnTo>
                  <a:cubicBezTo>
                    <a:pt x="21479" y="613580"/>
                    <a:pt x="14044" y="610500"/>
                    <a:pt x="8562" y="605018"/>
                  </a:cubicBezTo>
                  <a:cubicBezTo>
                    <a:pt x="3080" y="599536"/>
                    <a:pt x="0" y="592101"/>
                    <a:pt x="0" y="584348"/>
                  </a:cubicBezTo>
                  <a:lnTo>
                    <a:pt x="0" y="29232"/>
                  </a:lnTo>
                  <a:cubicBezTo>
                    <a:pt x="0" y="21479"/>
                    <a:pt x="3080" y="14044"/>
                    <a:pt x="8562" y="8562"/>
                  </a:cubicBezTo>
                  <a:cubicBezTo>
                    <a:pt x="14044" y="3080"/>
                    <a:pt x="21479" y="0"/>
                    <a:pt x="29232" y="0"/>
                  </a:cubicBez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72879" cy="651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69413" y="2627856"/>
            <a:ext cx="6621174" cy="1712106"/>
            <a:chOff x="0" y="0"/>
            <a:chExt cx="2372879" cy="6135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72879" cy="613580"/>
            </a:xfrm>
            <a:custGeom>
              <a:avLst/>
              <a:gdLst/>
              <a:ahLst/>
              <a:cxnLst/>
              <a:rect l="l" t="t" r="r" b="b"/>
              <a:pathLst>
                <a:path w="2372879" h="613580">
                  <a:moveTo>
                    <a:pt x="29232" y="0"/>
                  </a:moveTo>
                  <a:lnTo>
                    <a:pt x="2343648" y="0"/>
                  </a:lnTo>
                  <a:cubicBezTo>
                    <a:pt x="2351400" y="0"/>
                    <a:pt x="2358836" y="3080"/>
                    <a:pt x="2364318" y="8562"/>
                  </a:cubicBezTo>
                  <a:cubicBezTo>
                    <a:pt x="2369800" y="14044"/>
                    <a:pt x="2372879" y="21479"/>
                    <a:pt x="2372879" y="29232"/>
                  </a:cubicBezTo>
                  <a:lnTo>
                    <a:pt x="2372879" y="584348"/>
                  </a:lnTo>
                  <a:cubicBezTo>
                    <a:pt x="2372879" y="600493"/>
                    <a:pt x="2359792" y="613580"/>
                    <a:pt x="2343648" y="613580"/>
                  </a:cubicBezTo>
                  <a:lnTo>
                    <a:pt x="29232" y="613580"/>
                  </a:lnTo>
                  <a:cubicBezTo>
                    <a:pt x="21479" y="613580"/>
                    <a:pt x="14044" y="610500"/>
                    <a:pt x="8562" y="605018"/>
                  </a:cubicBezTo>
                  <a:cubicBezTo>
                    <a:pt x="3080" y="599536"/>
                    <a:pt x="0" y="592101"/>
                    <a:pt x="0" y="584348"/>
                  </a:cubicBezTo>
                  <a:lnTo>
                    <a:pt x="0" y="29232"/>
                  </a:lnTo>
                  <a:cubicBezTo>
                    <a:pt x="0" y="21479"/>
                    <a:pt x="3080" y="14044"/>
                    <a:pt x="8562" y="8562"/>
                  </a:cubicBezTo>
                  <a:cubicBezTo>
                    <a:pt x="14044" y="3080"/>
                    <a:pt x="21479" y="0"/>
                    <a:pt x="29232" y="0"/>
                  </a:cubicBez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72879" cy="651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9413" y="4461686"/>
            <a:ext cx="6621174" cy="1712106"/>
            <a:chOff x="0" y="0"/>
            <a:chExt cx="2372879" cy="6135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72879" cy="613580"/>
            </a:xfrm>
            <a:custGeom>
              <a:avLst/>
              <a:gdLst/>
              <a:ahLst/>
              <a:cxnLst/>
              <a:rect l="l" t="t" r="r" b="b"/>
              <a:pathLst>
                <a:path w="2372879" h="613580">
                  <a:moveTo>
                    <a:pt x="29232" y="0"/>
                  </a:moveTo>
                  <a:lnTo>
                    <a:pt x="2343648" y="0"/>
                  </a:lnTo>
                  <a:cubicBezTo>
                    <a:pt x="2351400" y="0"/>
                    <a:pt x="2358836" y="3080"/>
                    <a:pt x="2364318" y="8562"/>
                  </a:cubicBezTo>
                  <a:cubicBezTo>
                    <a:pt x="2369800" y="14044"/>
                    <a:pt x="2372879" y="21479"/>
                    <a:pt x="2372879" y="29232"/>
                  </a:cubicBezTo>
                  <a:lnTo>
                    <a:pt x="2372879" y="584348"/>
                  </a:lnTo>
                  <a:cubicBezTo>
                    <a:pt x="2372879" y="600493"/>
                    <a:pt x="2359792" y="613580"/>
                    <a:pt x="2343648" y="613580"/>
                  </a:cubicBezTo>
                  <a:lnTo>
                    <a:pt x="29232" y="613580"/>
                  </a:lnTo>
                  <a:cubicBezTo>
                    <a:pt x="21479" y="613580"/>
                    <a:pt x="14044" y="610500"/>
                    <a:pt x="8562" y="605018"/>
                  </a:cubicBezTo>
                  <a:cubicBezTo>
                    <a:pt x="3080" y="599536"/>
                    <a:pt x="0" y="592101"/>
                    <a:pt x="0" y="584348"/>
                  </a:cubicBezTo>
                  <a:lnTo>
                    <a:pt x="0" y="29232"/>
                  </a:lnTo>
                  <a:cubicBezTo>
                    <a:pt x="0" y="21479"/>
                    <a:pt x="3080" y="14044"/>
                    <a:pt x="8562" y="8562"/>
                  </a:cubicBezTo>
                  <a:cubicBezTo>
                    <a:pt x="14044" y="3080"/>
                    <a:pt x="21479" y="0"/>
                    <a:pt x="29232" y="0"/>
                  </a:cubicBez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72879" cy="651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9413" y="6369542"/>
            <a:ext cx="6621174" cy="2967358"/>
            <a:chOff x="0" y="0"/>
            <a:chExt cx="2372879" cy="10634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72879" cy="1063434"/>
            </a:xfrm>
            <a:custGeom>
              <a:avLst/>
              <a:gdLst/>
              <a:ahLst/>
              <a:cxnLst/>
              <a:rect l="l" t="t" r="r" b="b"/>
              <a:pathLst>
                <a:path w="2372879" h="1063434">
                  <a:moveTo>
                    <a:pt x="29232" y="0"/>
                  </a:moveTo>
                  <a:lnTo>
                    <a:pt x="2343648" y="0"/>
                  </a:lnTo>
                  <a:cubicBezTo>
                    <a:pt x="2351400" y="0"/>
                    <a:pt x="2358836" y="3080"/>
                    <a:pt x="2364318" y="8562"/>
                  </a:cubicBezTo>
                  <a:cubicBezTo>
                    <a:pt x="2369800" y="14044"/>
                    <a:pt x="2372879" y="21479"/>
                    <a:pt x="2372879" y="29232"/>
                  </a:cubicBezTo>
                  <a:lnTo>
                    <a:pt x="2372879" y="1034202"/>
                  </a:lnTo>
                  <a:cubicBezTo>
                    <a:pt x="2372879" y="1050347"/>
                    <a:pt x="2359792" y="1063434"/>
                    <a:pt x="2343648" y="1063434"/>
                  </a:cubicBezTo>
                  <a:lnTo>
                    <a:pt x="29232" y="1063434"/>
                  </a:lnTo>
                  <a:cubicBezTo>
                    <a:pt x="21479" y="1063434"/>
                    <a:pt x="14044" y="1060354"/>
                    <a:pt x="8562" y="1054872"/>
                  </a:cubicBezTo>
                  <a:cubicBezTo>
                    <a:pt x="3080" y="1049390"/>
                    <a:pt x="0" y="1041955"/>
                    <a:pt x="0" y="1034202"/>
                  </a:cubicBezTo>
                  <a:lnTo>
                    <a:pt x="0" y="29232"/>
                  </a:lnTo>
                  <a:cubicBezTo>
                    <a:pt x="0" y="21479"/>
                    <a:pt x="3080" y="14044"/>
                    <a:pt x="8562" y="8562"/>
                  </a:cubicBezTo>
                  <a:cubicBezTo>
                    <a:pt x="14044" y="3080"/>
                    <a:pt x="21479" y="0"/>
                    <a:pt x="29232" y="0"/>
                  </a:cubicBez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372879" cy="1101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16948" y="972572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Logotipo: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99003" y="1010672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sim               (    ) não    ________________________________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99003" y="1249609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Formal         (    ) Informal    ___________________________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6948" y="1220858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Linguagem: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6948" y="1449862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Legendas: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6948" y="1669126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Tons: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6948" y="1888837"/>
            <a:ext cx="2704550" cy="19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9"/>
              </a:lnSpc>
            </a:pPr>
            <a:r>
              <a:rPr lang="en-US" sz="1099" b="1" spc="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Fotos: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6446" y="2817098"/>
            <a:ext cx="1544843" cy="205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55"/>
              </a:lnSpc>
            </a:pPr>
            <a:r>
              <a:rPr lang="en-US" sz="1182" b="1" spc="1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Código das cores: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99003" y="1487962"/>
            <a:ext cx="4532935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Curtas          (    ) Longas    _____________________________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96124" y="1726900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Neutros       (    ) Coloridos   ___________________________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96124" y="1955728"/>
            <a:ext cx="4279750" cy="1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8"/>
              </a:lnSpc>
            </a:pPr>
            <a:r>
              <a:rPr lang="en-US" sz="1099" b="1" spc="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    ) Pessoais      (    ) Banco de dados    ____________________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446" y="4578929"/>
            <a:ext cx="1544843" cy="205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55"/>
              </a:lnSpc>
            </a:pPr>
            <a:r>
              <a:rPr lang="en-US" sz="1182" b="1" spc="1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Tipos de música: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446" y="6486784"/>
            <a:ext cx="1716233" cy="20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55"/>
              </a:lnSpc>
            </a:pPr>
            <a:r>
              <a:rPr lang="en-US" sz="1182" b="1" spc="1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Considerações extras: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7965" y="10276197"/>
            <a:ext cx="8075930" cy="421771"/>
          </a:xfrm>
          <a:prstGeom prst="rect">
            <a:avLst/>
          </a:prstGeom>
          <a:solidFill>
            <a:srgbClr val="381E4E"/>
          </a:solidFill>
        </p:spPr>
      </p:sp>
      <p:sp>
        <p:nvSpPr>
          <p:cNvPr id="3" name="Freeform 3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49215" y="708375"/>
            <a:ext cx="4861569" cy="37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</a:pPr>
            <a:r>
              <a:rPr lang="en-US" sz="2245" b="1" spc="23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MÉTODO ESSÊNCIA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9349" y="1446199"/>
            <a:ext cx="5061302" cy="126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4"/>
              </a:lnSpc>
            </a:pPr>
            <a:r>
              <a:rPr lang="en-US" sz="3696" spc="199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 – Essência e Posicionamento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75389" y="3004390"/>
            <a:ext cx="6913476" cy="6276332"/>
            <a:chOff x="0" y="0"/>
            <a:chExt cx="2525997" cy="22932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25997" cy="2293202"/>
            </a:xfrm>
            <a:custGeom>
              <a:avLst/>
              <a:gdLst/>
              <a:ahLst/>
              <a:cxnLst/>
              <a:rect l="l" t="t" r="r" b="b"/>
              <a:pathLst>
                <a:path w="2525997" h="2293202">
                  <a:moveTo>
                    <a:pt x="0" y="0"/>
                  </a:moveTo>
                  <a:lnTo>
                    <a:pt x="2525997" y="0"/>
                  </a:lnTo>
                  <a:lnTo>
                    <a:pt x="2525997" y="2293202"/>
                  </a:lnTo>
                  <a:lnTo>
                    <a:pt x="0" y="2293202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25997" cy="2331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62913" y="3234648"/>
            <a:ext cx="4896500" cy="407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⁠Tema central e temas secundários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⁠Objetivos profissionais e de imagem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⁠Como deseja ser percebido?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04385" y="8365244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63284" y="598410"/>
            <a:ext cx="5433432" cy="169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42"/>
              </a:lnSpc>
            </a:pPr>
            <a:r>
              <a:rPr lang="en-US" sz="3244" spc="175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 – Soluções e Diferenciais • Produto/serviço principal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75389" y="2580122"/>
            <a:ext cx="6913476" cy="6700600"/>
            <a:chOff x="0" y="0"/>
            <a:chExt cx="2525997" cy="24482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25997" cy="2448218"/>
            </a:xfrm>
            <a:custGeom>
              <a:avLst/>
              <a:gdLst/>
              <a:ahLst/>
              <a:cxnLst/>
              <a:rect l="l" t="t" r="r" b="b"/>
              <a:pathLst>
                <a:path w="2525997" h="2448218">
                  <a:moveTo>
                    <a:pt x="0" y="0"/>
                  </a:moveTo>
                  <a:lnTo>
                    <a:pt x="2525997" y="0"/>
                  </a:lnTo>
                  <a:lnTo>
                    <a:pt x="2525997" y="2448218"/>
                  </a:lnTo>
                  <a:lnTo>
                    <a:pt x="0" y="2448218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525997" cy="248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62913" y="2961904"/>
            <a:ext cx="4623756" cy="407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⁠Tema central e temas secundários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⁠Objetivos profissionais e de imagem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⁠Como deseja ser percebido?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96425"/>
            <a:ext cx="7560000" cy="3707068"/>
            <a:chOff x="0" y="0"/>
            <a:chExt cx="10080000" cy="494275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13200" b="13200"/>
            <a:stretch>
              <a:fillRect/>
            </a:stretch>
          </p:blipFill>
          <p:spPr>
            <a:xfrm>
              <a:off x="0" y="0"/>
              <a:ext cx="10080000" cy="494275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375389" y="4277195"/>
            <a:ext cx="6913476" cy="5973283"/>
            <a:chOff x="0" y="0"/>
            <a:chExt cx="2525997" cy="21824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25997" cy="2182476"/>
            </a:xfrm>
            <a:custGeom>
              <a:avLst/>
              <a:gdLst/>
              <a:ahLst/>
              <a:cxnLst/>
              <a:rect l="l" t="t" r="r" b="b"/>
              <a:pathLst>
                <a:path w="2525997" h="2182476">
                  <a:moveTo>
                    <a:pt x="0" y="0"/>
                  </a:moveTo>
                  <a:lnTo>
                    <a:pt x="2525997" y="0"/>
                  </a:lnTo>
                  <a:lnTo>
                    <a:pt x="2525997" y="2182476"/>
                  </a:lnTo>
                  <a:lnTo>
                    <a:pt x="0" y="2182476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525997" cy="2220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75389" y="3190942"/>
            <a:ext cx="5419426" cy="79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2356" spc="24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 – Sua História • Como chegou até esse nicho?</a:t>
            </a:r>
          </a:p>
        </p:txBody>
      </p:sp>
      <p:sp>
        <p:nvSpPr>
          <p:cNvPr id="8" name="Freeform 8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62913" y="4522605"/>
            <a:ext cx="4108573" cy="2585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⁠Principais desafios enfrentados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⁠Histórias de transformação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48536" y="2105953"/>
            <a:ext cx="4520498" cy="45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4"/>
              </a:lnSpc>
              <a:spcBef>
                <a:spcPct val="0"/>
              </a:spcBef>
            </a:pPr>
            <a:r>
              <a:rPr lang="en-US" sz="2653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Ê – Engajamento e Conteúdo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3752" y="225443"/>
            <a:ext cx="6112497" cy="182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090"/>
              </a:lnSpc>
              <a:spcBef>
                <a:spcPct val="0"/>
              </a:spcBef>
            </a:pPr>
            <a:r>
              <a:rPr lang="en-US" sz="10778">
                <a:solidFill>
                  <a:srgbClr val="381E4E">
                    <a:alpha val="14902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ESSÊNCIA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8536" y="2769174"/>
            <a:ext cx="4021441" cy="5115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5"/>
              </a:lnSpc>
            </a:pPr>
            <a:r>
              <a:rPr lang="en-US" sz="211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⁠Bastidores e rotina</a:t>
            </a: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r>
              <a:rPr lang="en-US" sz="211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⁠Formatos favoritos</a:t>
            </a: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55"/>
              </a:lnSpc>
            </a:pPr>
            <a:r>
              <a:rPr lang="en-US" sz="211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⁠Dores na produção de conteúdo</a:t>
            </a:r>
          </a:p>
          <a:p>
            <a:pPr marL="0" lvl="0" indent="0" algn="l">
              <a:lnSpc>
                <a:spcPts val="2955"/>
              </a:lnSpc>
              <a:spcBef>
                <a:spcPct val="0"/>
              </a:spcBef>
            </a:pPr>
            <a:endParaRPr lang="en-US" sz="2111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2583093"/>
            <a:ext cx="5976121" cy="369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⁠Idade, classe, interesses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⁠Como clientes descrevem sua marca?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56000" y="1088541"/>
            <a:ext cx="5419426" cy="79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2356" spc="24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– Nicho e Público-alvo • Quem é seu público?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3262" y="1966982"/>
            <a:ext cx="6913476" cy="2854254"/>
            <a:chOff x="0" y="0"/>
            <a:chExt cx="2525997" cy="10428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25997" cy="1042867"/>
            </a:xfrm>
            <a:custGeom>
              <a:avLst/>
              <a:gdLst/>
              <a:ahLst/>
              <a:cxnLst/>
              <a:rect l="l" t="t" r="r" b="b"/>
              <a:pathLst>
                <a:path w="2525997" h="1042867">
                  <a:moveTo>
                    <a:pt x="0" y="0"/>
                  </a:moveTo>
                  <a:lnTo>
                    <a:pt x="2525997" y="0"/>
                  </a:lnTo>
                  <a:lnTo>
                    <a:pt x="2525997" y="1042867"/>
                  </a:lnTo>
                  <a:lnTo>
                    <a:pt x="0" y="1042867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25997" cy="1080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3262" y="5640890"/>
            <a:ext cx="6913476" cy="2854254"/>
            <a:chOff x="0" y="0"/>
            <a:chExt cx="2525997" cy="10428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5997" cy="1042867"/>
            </a:xfrm>
            <a:custGeom>
              <a:avLst/>
              <a:gdLst/>
              <a:ahLst/>
              <a:cxnLst/>
              <a:rect l="l" t="t" r="r" b="b"/>
              <a:pathLst>
                <a:path w="2525997" h="1042867">
                  <a:moveTo>
                    <a:pt x="0" y="0"/>
                  </a:moveTo>
                  <a:lnTo>
                    <a:pt x="2525997" y="0"/>
                  </a:lnTo>
                  <a:lnTo>
                    <a:pt x="2525997" y="1042867"/>
                  </a:lnTo>
                  <a:lnTo>
                    <a:pt x="0" y="1042867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25997" cy="1080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6000" y="1442603"/>
            <a:ext cx="4084087" cy="310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7"/>
              </a:lnSpc>
            </a:pPr>
            <a:r>
              <a:rPr lang="en-US" sz="2100" spc="5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 Principais concorrentes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000" y="5116511"/>
            <a:ext cx="6235576" cy="310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7"/>
              </a:lnSpc>
            </a:pPr>
            <a:r>
              <a:rPr lang="en-US" sz="2100" spc="5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⁠Estilo, linguagem e tom que deseja evitar</a:t>
            </a:r>
          </a:p>
        </p:txBody>
      </p:sp>
      <p:sp>
        <p:nvSpPr>
          <p:cNvPr id="10" name="Freeform 10"/>
          <p:cNvSpPr/>
          <p:nvPr/>
        </p:nvSpPr>
        <p:spPr>
          <a:xfrm>
            <a:off x="2904385" y="7960288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44136" y="698850"/>
            <a:ext cx="4520498" cy="45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4"/>
              </a:lnSpc>
              <a:spcBef>
                <a:spcPct val="0"/>
              </a:spcBef>
            </a:pPr>
            <a:r>
              <a:rPr lang="en-US" sz="2653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 – Concorrência e Restrição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2010567"/>
            <a:ext cx="6048000" cy="7427124"/>
            <a:chOff x="0" y="0"/>
            <a:chExt cx="2330233" cy="2861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233" cy="2861595"/>
            </a:xfrm>
            <a:custGeom>
              <a:avLst/>
              <a:gdLst/>
              <a:ahLst/>
              <a:cxnLst/>
              <a:rect l="l" t="t" r="r" b="b"/>
              <a:pathLst>
                <a:path w="2330233" h="2861595">
                  <a:moveTo>
                    <a:pt x="0" y="0"/>
                  </a:moveTo>
                  <a:lnTo>
                    <a:pt x="2330233" y="0"/>
                  </a:lnTo>
                  <a:lnTo>
                    <a:pt x="2330233" y="2861595"/>
                  </a:lnTo>
                  <a:lnTo>
                    <a:pt x="0" y="2861595"/>
                  </a:lnTo>
                  <a:close/>
                </a:path>
              </a:pathLst>
            </a:custGeom>
            <a:solidFill>
              <a:srgbClr val="041E42">
                <a:alpha val="1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30233" cy="2899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56000" y="1177617"/>
            <a:ext cx="5063625" cy="514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14"/>
              </a:lnSpc>
              <a:spcBef>
                <a:spcPct val="0"/>
              </a:spcBef>
            </a:pPr>
            <a:r>
              <a:rPr lang="en-US" sz="3486" spc="83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</a:t>
            </a:r>
            <a:r>
              <a:rPr lang="en-US" sz="3486" u="none" strike="noStrike" spc="83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– Imagem e Aprovação</a:t>
            </a:r>
          </a:p>
        </p:txBody>
      </p:sp>
      <p:sp>
        <p:nvSpPr>
          <p:cNvPr id="6" name="Freeform 6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97625" y="2278150"/>
            <a:ext cx="4932904" cy="5185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 Palavras-chave que devem aparecer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⁠Redes sociais desejadas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⁠Preferência de aprovação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6000" y="1115058"/>
            <a:ext cx="4419365" cy="39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2356" spc="24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– Aferição de Sucesso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4271" y="2139884"/>
            <a:ext cx="4932904" cy="444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⁠O que </a:t>
            </a:r>
            <a:r>
              <a:rPr lang="en-US" sz="2100" dirty="0" err="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considera</a:t>
            </a: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um </a:t>
            </a:r>
            <a:r>
              <a:rPr lang="en-US" sz="2100" dirty="0" err="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bom</a:t>
            </a: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100" dirty="0" err="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resultado</a:t>
            </a: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?</a:t>
            </a: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•⁠  ⁠Qual </a:t>
            </a:r>
            <a:r>
              <a:rPr lang="en-US" sz="2100" dirty="0" err="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métrica</a:t>
            </a: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100" dirty="0" err="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importa</a:t>
            </a: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para </a:t>
            </a:r>
            <a:r>
              <a:rPr lang="en-US" sz="2100" dirty="0" err="1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você</a:t>
            </a:r>
            <a:r>
              <a:rPr lang="en-US" sz="2100" dirty="0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?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381E4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02223" y="-1732529"/>
            <a:ext cx="3694155" cy="6599051"/>
            <a:chOff x="0" y="0"/>
            <a:chExt cx="4925540" cy="879873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39" r="239"/>
            <a:stretch>
              <a:fillRect/>
            </a:stretch>
          </p:blipFill>
          <p:spPr>
            <a:xfrm>
              <a:off x="0" y="0"/>
              <a:ext cx="4925540" cy="8798734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2699375" y="2634322"/>
            <a:ext cx="4299851" cy="6802592"/>
            <a:chOff x="0" y="0"/>
            <a:chExt cx="1619274" cy="25617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19274" cy="2561778"/>
            </a:xfrm>
            <a:custGeom>
              <a:avLst/>
              <a:gdLst/>
              <a:ahLst/>
              <a:cxnLst/>
              <a:rect l="l" t="t" r="r" b="b"/>
              <a:pathLst>
                <a:path w="1619274" h="2561778">
                  <a:moveTo>
                    <a:pt x="0" y="0"/>
                  </a:moveTo>
                  <a:lnTo>
                    <a:pt x="1619274" y="0"/>
                  </a:lnTo>
                  <a:lnTo>
                    <a:pt x="1619274" y="2561778"/>
                  </a:lnTo>
                  <a:lnTo>
                    <a:pt x="0" y="2561778"/>
                  </a:lnTo>
                  <a:close/>
                </a:path>
              </a:pathLst>
            </a:custGeom>
            <a:solidFill>
              <a:srgbClr val="381E4E"/>
            </a:solidFill>
          </p:spPr>
        </p:sp>
      </p:grpSp>
      <p:sp>
        <p:nvSpPr>
          <p:cNvPr id="6" name="TextBox 6"/>
          <p:cNvSpPr txBox="1"/>
          <p:nvPr/>
        </p:nvSpPr>
        <p:spPr>
          <a:xfrm rot="-5400000">
            <a:off x="-5917181" y="3968036"/>
            <a:ext cx="14477184" cy="2755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79"/>
              </a:lnSpc>
              <a:spcBef>
                <a:spcPct val="0"/>
              </a:spcBef>
            </a:pPr>
            <a:r>
              <a:rPr lang="en-US" sz="19848" spc="377">
                <a:solidFill>
                  <a:srgbClr val="381E4E">
                    <a:alpha val="14902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essência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74454" y="2843250"/>
            <a:ext cx="94969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Dúvidas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41896" y="0"/>
            <a:ext cx="1679636" cy="10692000"/>
            <a:chOff x="0" y="0"/>
            <a:chExt cx="2239515" cy="1425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0868" r="55552"/>
            <a:stretch>
              <a:fillRect/>
            </a:stretch>
          </p:blipFill>
          <p:spPr>
            <a:xfrm>
              <a:off x="0" y="0"/>
              <a:ext cx="2239515" cy="1425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999784" y="2996287"/>
            <a:ext cx="3813947" cy="27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4"/>
              </a:lnSpc>
              <a:spcBef>
                <a:spcPct val="0"/>
              </a:spcBef>
            </a:pPr>
            <a:r>
              <a:rPr lang="en-US" sz="1653" spc="89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INSTAGRAM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9784" y="4577376"/>
            <a:ext cx="3813947" cy="27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4"/>
              </a:lnSpc>
              <a:spcBef>
                <a:spcPct val="0"/>
              </a:spcBef>
            </a:pPr>
            <a:r>
              <a:rPr lang="en-US" sz="1653" u="none" strike="noStrike" spc="89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FACEBOOK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9784" y="6157016"/>
            <a:ext cx="3813947" cy="27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4"/>
              </a:lnSpc>
              <a:spcBef>
                <a:spcPct val="0"/>
              </a:spcBef>
            </a:pPr>
            <a:r>
              <a:rPr lang="en-US" sz="1653" u="none" strike="noStrike" spc="89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TIKTOK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9784" y="7693888"/>
            <a:ext cx="3813947" cy="27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4"/>
              </a:lnSpc>
              <a:spcBef>
                <a:spcPct val="0"/>
              </a:spcBef>
            </a:pPr>
            <a:r>
              <a:rPr lang="en-US" sz="1653" u="none" strike="noStrike" spc="89">
                <a:solidFill>
                  <a:srgbClr val="381E4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YOUTUBE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-1431125"/>
            <a:ext cx="7476903" cy="3813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39"/>
              </a:lnSpc>
            </a:pPr>
            <a:r>
              <a:rPr lang="en-US" sz="19195">
                <a:solidFill>
                  <a:srgbClr val="381E4E">
                    <a:alpha val="13725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senhas</a:t>
            </a:r>
          </a:p>
        </p:txBody>
      </p:sp>
      <p:sp>
        <p:nvSpPr>
          <p:cNvPr id="9" name="Freeform 9"/>
          <p:cNvSpPr/>
          <p:nvPr/>
        </p:nvSpPr>
        <p:spPr>
          <a:xfrm>
            <a:off x="2904385" y="8302613"/>
            <a:ext cx="1767101" cy="3141512"/>
          </a:xfrm>
          <a:custGeom>
            <a:avLst/>
            <a:gdLst/>
            <a:ahLst/>
            <a:cxnLst/>
            <a:rect l="l" t="t" r="r" b="b"/>
            <a:pathLst>
              <a:path w="1767101" h="3141512">
                <a:moveTo>
                  <a:pt x="0" y="0"/>
                </a:moveTo>
                <a:lnTo>
                  <a:pt x="1767101" y="0"/>
                </a:lnTo>
                <a:lnTo>
                  <a:pt x="1767101" y="3141512"/>
                </a:lnTo>
                <a:lnTo>
                  <a:pt x="0" y="3141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1E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60169" y="2288523"/>
            <a:ext cx="3439661" cy="6114953"/>
          </a:xfrm>
          <a:custGeom>
            <a:avLst/>
            <a:gdLst/>
            <a:ahLst/>
            <a:cxnLst/>
            <a:rect l="l" t="t" r="r" b="b"/>
            <a:pathLst>
              <a:path w="3439661" h="6114953">
                <a:moveTo>
                  <a:pt x="0" y="0"/>
                </a:moveTo>
                <a:lnTo>
                  <a:pt x="3439662" y="0"/>
                </a:lnTo>
                <a:lnTo>
                  <a:pt x="3439662" y="6114954"/>
                </a:lnTo>
                <a:lnTo>
                  <a:pt x="0" y="6114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863</Words>
  <Application>Microsoft Office PowerPoint</Application>
  <PresentationFormat>Personalizar</PresentationFormat>
  <Paragraphs>267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6" baseType="lpstr">
      <vt:lpstr>Montserrat Semi-Bold</vt:lpstr>
      <vt:lpstr>DM Sans</vt:lpstr>
      <vt:lpstr>DM Serif Display</vt:lpstr>
      <vt:lpstr>Neue Montreal</vt:lpstr>
      <vt:lpstr>Montserrat Bold</vt:lpstr>
      <vt:lpstr>Arial</vt:lpstr>
      <vt:lpstr>Calibri</vt:lpstr>
      <vt:lpstr>Montserrat Medium</vt:lpstr>
      <vt:lpstr>Open Sans</vt:lpstr>
      <vt:lpstr>Montserrat</vt:lpstr>
      <vt:lpstr>DM Sans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- Pedro</dc:title>
  <cp:lastModifiedBy>home</cp:lastModifiedBy>
  <cp:revision>3</cp:revision>
  <dcterms:created xsi:type="dcterms:W3CDTF">2006-08-16T00:00:00Z</dcterms:created>
  <dcterms:modified xsi:type="dcterms:W3CDTF">2026-05-05T15:27:15Z</dcterms:modified>
  <dc:identifier>DAGok65pIRM</dc:identifier>
</cp:coreProperties>
</file>