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images/getulio-consulta-onli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705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59712" y="0"/>
            <a:ext cx="45720" cy="6858000"/>
          </a:xfrm>
          <a:prstGeom prst="rect">
            <a:avLst/>
          </a:prstGeom>
          <a:solidFill>
            <a:srgbClr val="063B4F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613992" y="0"/>
            <a:ext cx="45720" cy="6858000"/>
          </a:xfrm>
          <a:prstGeom prst="rect">
            <a:avLst/>
          </a:prstGeom>
          <a:solidFill>
            <a:srgbClr val="063B4F">
              <a:alpha val="1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568272" y="0"/>
            <a:ext cx="45720" cy="6858000"/>
          </a:xfrm>
          <a:prstGeom prst="rect">
            <a:avLst/>
          </a:prstGeom>
          <a:solidFill>
            <a:srgbClr val="063B4F">
              <a:alpha val="2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522552" y="0"/>
            <a:ext cx="45720" cy="6858000"/>
          </a:xfrm>
          <a:prstGeom prst="rect">
            <a:avLst/>
          </a:prstGeom>
          <a:solidFill>
            <a:srgbClr val="063B4F">
              <a:alpha val="3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76832" y="0"/>
            <a:ext cx="45720" cy="6858000"/>
          </a:xfrm>
          <a:prstGeom prst="rect">
            <a:avLst/>
          </a:prstGeom>
          <a:solidFill>
            <a:srgbClr val="063B4F">
              <a:alpha val="4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31112" y="0"/>
            <a:ext cx="45720" cy="6858000"/>
          </a:xfrm>
          <a:prstGeom prst="rect">
            <a:avLst/>
          </a:prstGeom>
          <a:solidFill>
            <a:srgbClr val="063B4F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85392" y="0"/>
            <a:ext cx="45720" cy="6858000"/>
          </a:xfrm>
          <a:prstGeom prst="rect">
            <a:avLst/>
          </a:prstGeom>
          <a:solidFill>
            <a:srgbClr val="063B4F">
              <a:alpha val="5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39672" y="0"/>
            <a:ext cx="45720" cy="6858000"/>
          </a:xfrm>
          <a:prstGeom prst="rect">
            <a:avLst/>
          </a:prstGeom>
          <a:solidFill>
            <a:srgbClr val="063B4F">
              <a:alpha val="66000"/>
            </a:srgbClr>
          </a:solidFill>
          <a:ln/>
        </p:spPr>
      </p:sp>
      <p:pic>
        <p:nvPicPr>
          <p:cNvPr id="11" name="Image 1" descr="/home/user/plenya/apps/site/public/brand/wordmark/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1894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DE ACOMPANHAMENTO CONTÍNUO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949440" y="26517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Continuum.</a:t>
            </a:r>
            <a:endParaRPr lang="en-US" sz="8800" dirty="0"/>
          </a:p>
        </p:txBody>
      </p:sp>
      <p:sp>
        <p:nvSpPr>
          <p:cNvPr id="14" name="Shape 10"/>
          <p:cNvSpPr/>
          <p:nvPr/>
        </p:nvSpPr>
        <p:spPr>
          <a:xfrm>
            <a:off x="6949440" y="4251960"/>
            <a:ext cx="91440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49440" y="44805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2B8B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Saúde não se resolve em uma consulta. Se constrói no tempo, em conjunto, com método.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docs/decks/_assets/style-refs/deck-linha-continua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4F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Plenitude não é um ponto de chegada.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É uma linha contínua.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docs/decks/_assets/style-refs/deck-janela-silenciosa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263" y="0"/>
            <a:ext cx="6705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263" y="0"/>
            <a:ext cx="45720" cy="6858000"/>
          </a:xfrm>
          <a:prstGeom prst="rect">
            <a:avLst/>
          </a:prstGeom>
          <a:solidFill>
            <a:srgbClr val="063B4F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531983" y="0"/>
            <a:ext cx="45720" cy="6858000"/>
          </a:xfrm>
          <a:prstGeom prst="rect">
            <a:avLst/>
          </a:prstGeom>
          <a:solidFill>
            <a:srgbClr val="063B4F">
              <a:alpha val="1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577703" y="0"/>
            <a:ext cx="45720" cy="6858000"/>
          </a:xfrm>
          <a:prstGeom prst="rect">
            <a:avLst/>
          </a:prstGeom>
          <a:solidFill>
            <a:srgbClr val="063B4F">
              <a:alpha val="2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623423" y="0"/>
            <a:ext cx="45720" cy="6858000"/>
          </a:xfrm>
          <a:prstGeom prst="rect">
            <a:avLst/>
          </a:prstGeom>
          <a:solidFill>
            <a:srgbClr val="063B4F">
              <a:alpha val="3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669143" y="0"/>
            <a:ext cx="45720" cy="6858000"/>
          </a:xfrm>
          <a:prstGeom prst="rect">
            <a:avLst/>
          </a:prstGeom>
          <a:solidFill>
            <a:srgbClr val="063B4F">
              <a:alpha val="4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4863" y="0"/>
            <a:ext cx="45720" cy="6858000"/>
          </a:xfrm>
          <a:prstGeom prst="rect">
            <a:avLst/>
          </a:prstGeom>
          <a:solidFill>
            <a:srgbClr val="063B4F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60583" y="0"/>
            <a:ext cx="45720" cy="6858000"/>
          </a:xfrm>
          <a:prstGeom prst="rect">
            <a:avLst/>
          </a:prstGeom>
          <a:solidFill>
            <a:srgbClr val="063B4F">
              <a:alpha val="5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806303" y="0"/>
            <a:ext cx="45720" cy="6858000"/>
          </a:xfrm>
          <a:prstGeom prst="rect">
            <a:avLst/>
          </a:prstGeom>
          <a:solidFill>
            <a:srgbClr val="063B4F">
              <a:alpha val="6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8288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 check-up convencional não procura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 que vai te tirar do jogo.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" y="3246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Quando ele encontra,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40080" y="38862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você já está doente.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640080" y="4937760"/>
            <a:ext cx="54864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12064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o exame que diz "normal" e o diagnóstico que muda sua vida existe uma janela silenciosa de dez a vinte anos.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images/lifestyle-movem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4F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RECONHECIMENTO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Não é para todo mundo.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2B8B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É para quem reconhece um destes momentos.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280160" y="3182112"/>
            <a:ext cx="0" cy="128016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3108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Faz tudo certo, e os sinais não somam.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62272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102352" y="3182112"/>
            <a:ext cx="0" cy="128016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5232" y="3108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Recebeu o susto.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84464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924544" y="3182112"/>
            <a:ext cx="0" cy="128016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07424" y="3108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Carrega mais do que si mesmo.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280160" y="4690872"/>
            <a:ext cx="0" cy="128016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63040" y="4617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Está numa transição que ninguém nomeia.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62272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102352" y="4690872"/>
            <a:ext cx="0" cy="128016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85232" y="4617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Informação demais, integração de menos.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84464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924544" y="4690872"/>
            <a:ext cx="0" cy="128016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07424" y="4617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Quer estar inteiro para quem ainda vai chegar.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RESPOSTA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731520" cy="0"/>
          </a:xfrm>
          <a:prstGeom prst="line">
            <a:avLst/>
          </a:prstGeom>
          <a:noFill/>
          <a:ln w="15240">
            <a:solidFill>
              <a:srgbClr val="B386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881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Há quem procure saúde quando algo já apareceu. O Continuum existe para quem decidiu o caminho contrário.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 · Continuum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images/team/equipe-form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4F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Quatro especialistas.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Um plano único.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73152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617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Médico, nutricionista, psicóloga e educador físico se reúnem antes do seu primeiro encontro, discutem o seu caso e desenham um plano integrado. Cada decisão clínica conversa com as outras.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images/metodo-agir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4F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AGIR.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2B8B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Quatro pilares interdependentes para uma saúde que se sustenta no tempo.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</a:t>
            </a:r>
            <a:endParaRPr lang="en-US" sz="9600" dirty="0"/>
          </a:p>
        </p:txBody>
      </p:sp>
      <p:sp>
        <p:nvSpPr>
          <p:cNvPr id="8" name="Shape 5"/>
          <p:cNvSpPr/>
          <p:nvPr/>
        </p:nvSpPr>
        <p:spPr>
          <a:xfrm>
            <a:off x="640080" y="5394960"/>
            <a:ext cx="548640" cy="0"/>
          </a:xfrm>
          <a:prstGeom prst="line">
            <a:avLst/>
          </a:prstGeom>
          <a:noFill/>
          <a:ln w="12700">
            <a:solidFill>
              <a:srgbClr val="B386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532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Atividade, alimentação e suplementação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Nutricionista + educador físico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74720" y="3657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</a:t>
            </a:r>
            <a:endParaRPr lang="en-US" sz="9600" dirty="0"/>
          </a:p>
        </p:txBody>
      </p:sp>
      <p:sp>
        <p:nvSpPr>
          <p:cNvPr id="12" name="Shape 9"/>
          <p:cNvSpPr/>
          <p:nvPr/>
        </p:nvSpPr>
        <p:spPr>
          <a:xfrm>
            <a:off x="3474720" y="5394960"/>
            <a:ext cx="548640" cy="0"/>
          </a:xfrm>
          <a:prstGeom prst="line">
            <a:avLst/>
          </a:prstGeom>
          <a:noFill/>
          <a:ln w="12700">
            <a:solidFill>
              <a:srgbClr val="B386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5532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Gestão clínica e metabólica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6172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Médico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09360" y="3657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</a:t>
            </a:r>
            <a:endParaRPr lang="en-US" sz="9600" dirty="0"/>
          </a:p>
        </p:txBody>
      </p:sp>
      <p:sp>
        <p:nvSpPr>
          <p:cNvPr id="16" name="Shape 13"/>
          <p:cNvSpPr/>
          <p:nvPr/>
        </p:nvSpPr>
        <p:spPr>
          <a:xfrm>
            <a:off x="6309360" y="5394960"/>
            <a:ext cx="548640" cy="0"/>
          </a:xfrm>
          <a:prstGeom prst="line">
            <a:avLst/>
          </a:prstGeom>
          <a:noFill/>
          <a:ln w="12700">
            <a:solidFill>
              <a:srgbClr val="B386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5532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Integração mente-corpo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6172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Psicóloga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144000" y="3657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</a:t>
            </a:r>
            <a:endParaRPr lang="en-US" sz="9600" dirty="0"/>
          </a:p>
        </p:txBody>
      </p:sp>
      <p:sp>
        <p:nvSpPr>
          <p:cNvPr id="20" name="Shape 17"/>
          <p:cNvSpPr/>
          <p:nvPr/>
        </p:nvSpPr>
        <p:spPr>
          <a:xfrm>
            <a:off x="9144000" y="5394960"/>
            <a:ext cx="548640" cy="0"/>
          </a:xfrm>
          <a:prstGeom prst="line">
            <a:avLst/>
          </a:prstGeom>
          <a:noFill/>
          <a:ln w="12700">
            <a:solidFill>
              <a:srgbClr val="B386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0" y="55321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Ritmo circadiano e repouso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6172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Atravessa os quatro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CRONOLOGIA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 tempo zero ao próximo horizonte.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0876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566160" cy="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Quatro consultas online.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com cada profissional. Juntas, preenchem o Escore Plenya.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352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2743200"/>
            <a:ext cx="3566160" cy="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Reunião da equipe e abertura do plano.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quatro discutem o caso. O médico devolve a leitura clínica integrada.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SEGUINTES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566160" cy="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Encontro semanal, em rotação.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337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cada quatro semanas o ciclo se completa. Nenhum pilar fica sem revisão.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CONFORME O PLANO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3566160" cy="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Box Plenya.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Mimos selecionados, suplementos e manipulados do seu protocolo.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4069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0352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CADA TRÊS MESES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4617720"/>
            <a:ext cx="3566160" cy="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Reavaliação do Escore.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34840" y="5212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curva mostra o que avançou, o que estagnou e onde a próxima intervenção entra.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069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09828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DO CICLO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0" y="4617720"/>
            <a:ext cx="3566160" cy="0"/>
          </a:xfrm>
          <a:prstGeom prst="line">
            <a:avLst/>
          </a:prstGeom>
          <a:noFill/>
          <a:ln w="6350">
            <a:solidFill>
              <a:srgbClr val="B38645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4709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Avaliação final e próximo horizonte.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0" y="5212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fim do período, decidimos juntos o desenho do próximo ciclo.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docs/decks/_assets/style-refs/deck-box-plenya-cont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263" y="0"/>
            <a:ext cx="6705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263" y="0"/>
            <a:ext cx="45720" cy="6858000"/>
          </a:xfrm>
          <a:prstGeom prst="rect">
            <a:avLst/>
          </a:prstGeom>
          <a:solidFill>
            <a:srgbClr val="063B4F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531983" y="0"/>
            <a:ext cx="45720" cy="6858000"/>
          </a:xfrm>
          <a:prstGeom prst="rect">
            <a:avLst/>
          </a:prstGeom>
          <a:solidFill>
            <a:srgbClr val="063B4F">
              <a:alpha val="1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577703" y="0"/>
            <a:ext cx="45720" cy="6858000"/>
          </a:xfrm>
          <a:prstGeom prst="rect">
            <a:avLst/>
          </a:prstGeom>
          <a:solidFill>
            <a:srgbClr val="063B4F">
              <a:alpha val="2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623423" y="0"/>
            <a:ext cx="45720" cy="6858000"/>
          </a:xfrm>
          <a:prstGeom prst="rect">
            <a:avLst/>
          </a:prstGeom>
          <a:solidFill>
            <a:srgbClr val="063B4F">
              <a:alpha val="3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669143" y="0"/>
            <a:ext cx="45720" cy="6858000"/>
          </a:xfrm>
          <a:prstGeom prst="rect">
            <a:avLst/>
          </a:prstGeom>
          <a:solidFill>
            <a:srgbClr val="063B4F">
              <a:alpha val="4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4863" y="0"/>
            <a:ext cx="45720" cy="6858000"/>
          </a:xfrm>
          <a:prstGeom prst="rect">
            <a:avLst/>
          </a:prstGeom>
          <a:solidFill>
            <a:srgbClr val="063B4F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60583" y="0"/>
            <a:ext cx="45720" cy="6858000"/>
          </a:xfrm>
          <a:prstGeom prst="rect">
            <a:avLst/>
          </a:prstGeom>
          <a:solidFill>
            <a:srgbClr val="063B4F">
              <a:alpha val="5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806303" y="0"/>
            <a:ext cx="45720" cy="6858000"/>
          </a:xfrm>
          <a:prstGeom prst="rect">
            <a:avLst/>
          </a:prstGeom>
          <a:solidFill>
            <a:srgbClr val="063B4F">
              <a:alpha val="6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4630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Um box chega até você.</a:t>
            </a:r>
            <a:endParaRPr lang="en-US" sz="4200" dirty="0"/>
          </a:p>
        </p:txBody>
      </p:sp>
      <p:sp>
        <p:nvSpPr>
          <p:cNvPr id="13" name="Shape 10"/>
          <p:cNvSpPr/>
          <p:nvPr/>
        </p:nvSpPr>
        <p:spPr>
          <a:xfrm>
            <a:off x="640080" y="2743200"/>
            <a:ext cx="54864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7180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Mimos selecionados pela equipe, suplementos e manipulados específicos do seu protocolo. À medida que o cuidado evolui e o plano se ajusta, novos boxes seguem o mesmo ritmo.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5486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Cada caixa carrega o manifesto Plenya em ouro foil.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docs/decks/_assets/style-refs/deck-escore-curve-premiu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705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59712" y="0"/>
            <a:ext cx="45720" cy="6858000"/>
          </a:xfrm>
          <a:prstGeom prst="rect">
            <a:avLst/>
          </a:prstGeom>
          <a:solidFill>
            <a:srgbClr val="063B4F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613992" y="0"/>
            <a:ext cx="45720" cy="6858000"/>
          </a:xfrm>
          <a:prstGeom prst="rect">
            <a:avLst/>
          </a:prstGeom>
          <a:solidFill>
            <a:srgbClr val="063B4F">
              <a:alpha val="1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568272" y="0"/>
            <a:ext cx="45720" cy="6858000"/>
          </a:xfrm>
          <a:prstGeom prst="rect">
            <a:avLst/>
          </a:prstGeom>
          <a:solidFill>
            <a:srgbClr val="063B4F">
              <a:alpha val="2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522552" y="0"/>
            <a:ext cx="45720" cy="6858000"/>
          </a:xfrm>
          <a:prstGeom prst="rect">
            <a:avLst/>
          </a:prstGeom>
          <a:solidFill>
            <a:srgbClr val="063B4F">
              <a:alpha val="3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76832" y="0"/>
            <a:ext cx="45720" cy="6858000"/>
          </a:xfrm>
          <a:prstGeom prst="rect">
            <a:avLst/>
          </a:prstGeom>
          <a:solidFill>
            <a:srgbClr val="063B4F">
              <a:alpha val="4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31112" y="0"/>
            <a:ext cx="45720" cy="6858000"/>
          </a:xfrm>
          <a:prstGeom prst="rect">
            <a:avLst/>
          </a:prstGeom>
          <a:solidFill>
            <a:srgbClr val="063B4F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85392" y="0"/>
            <a:ext cx="45720" cy="6858000"/>
          </a:xfrm>
          <a:prstGeom prst="rect">
            <a:avLst/>
          </a:prstGeom>
          <a:solidFill>
            <a:srgbClr val="063B4F">
              <a:alpha val="5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39672" y="0"/>
            <a:ext cx="45720" cy="6858000"/>
          </a:xfrm>
          <a:prstGeom prst="rect">
            <a:avLst/>
          </a:prstGeom>
          <a:solidFill>
            <a:srgbClr val="063B4F">
              <a:alpha val="6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949440" y="914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49440" y="1280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Escore Plenya.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6949440" y="2194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2B8B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curva que mostra se o cuidado está funcionando.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949440" y="3383280"/>
            <a:ext cx="54864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6118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de 800 itens — história, sintomas, exames, hábitos, medicamentos — consolidados em uma pontuação clara, evolutiva e personalizada. Refeita a cada três meses.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49440" y="5760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Direção, não punição.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Dois horizontes de compromisso.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3728" y="2606040"/>
            <a:ext cx="5349240" cy="0"/>
          </a:xfrm>
          <a:prstGeom prst="line">
            <a:avLst/>
          </a:prstGeom>
          <a:noFill/>
          <a:ln w="9525">
            <a:solidFill>
              <a:srgbClr val="417E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3728" y="2834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17E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MESES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3728" y="320040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Continuum Semestral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3728" y="429768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completo: avaliação inicial, plano integrado, encontros semanais, reavaliação trimestral e fechamento.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2606040"/>
            <a:ext cx="5349240" cy="0"/>
          </a:xfrm>
          <a:prstGeom prst="line">
            <a:avLst/>
          </a:prstGeom>
          <a:noFill/>
          <a:ln w="25400">
            <a:solidFill>
              <a:srgbClr val="B386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8728" y="2834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MESES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78728" y="320040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Continuum Anual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278728" y="429768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Mesma estrutura, com mais uma reavaliação trimestral e maior consolidação dos hábitos no tempo.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943600"/>
            <a:ext cx="10881360" cy="0"/>
          </a:xfrm>
          <a:prstGeom prst="line">
            <a:avLst/>
          </a:prstGeom>
          <a:noFill/>
          <a:ln w="6350">
            <a:solidFill>
              <a:srgbClr val="B38645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2B8B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Valores · sob consulta. A equipe apresenta as condições em conversa direta.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CONTINUUM PLENYA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5528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images/getulio-sorrin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4F">
              <a:alpha val="75000"/>
            </a:srgbClr>
          </a:solidFill>
          <a:ln/>
        </p:spPr>
      </p:sp>
      <p:pic>
        <p:nvPicPr>
          <p:cNvPr id="4" name="Image 1" descr="/home/user/plenya/apps/site/public/brand/wordmark/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8" y="1737360"/>
            <a:ext cx="5029200" cy="7444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181448" y="2743200"/>
            <a:ext cx="182880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971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Viva bem, viva mais.</a:t>
            </a:r>
            <a:endParaRPr lang="en-US" sz="5600" dirty="0"/>
          </a:p>
        </p:txBody>
      </p:sp>
      <p:sp>
        <p:nvSpPr>
          <p:cNvPr id="7" name="Text 3"/>
          <p:cNvSpPr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Conversar com a equipe Plenya.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plenyasaude.com.br   ·   Londrina · PR   ·   contato@plenyasaude.com.br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Plenya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Continuum Plenya · Programa de acompanhamento contínuo</dc:title>
  <dc:subject>Continuum Plenya</dc:subject>
  <dc:creator>Plenya</dc:creator>
  <cp:lastModifiedBy>Plenya</cp:lastModifiedBy>
  <cp:revision>1</cp:revision>
  <dcterms:created xsi:type="dcterms:W3CDTF">2026-05-15T03:47:48Z</dcterms:created>
  <dcterms:modified xsi:type="dcterms:W3CDTF">2026-05-15T03:47:48Z</dcterms:modified>
</cp:coreProperties>
</file>