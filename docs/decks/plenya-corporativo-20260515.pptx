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lenya/apps/site/public/brand/symbol/ocean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609448" y="-840572"/>
            <a:ext cx="10972800" cy="8539144"/>
          </a:xfrm>
          <a:prstGeom prst="rect">
            <a:avLst/>
          </a:prstGeom>
        </p:spPr>
      </p:pic>
      <p:pic>
        <p:nvPicPr>
          <p:cNvPr id="3" name="Image 1" descr="/home/user/plenya/apps/site/public/brand/wordmark/cr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848" y="2468880"/>
            <a:ext cx="6858000" cy="101509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3657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8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PROGRAMA DE SAÚDE INTEGRADA</a:t>
            </a:r>
            <a:endParaRPr lang="en-US" sz="1400" dirty="0"/>
          </a:p>
        </p:txBody>
      </p:sp>
      <p:sp>
        <p:nvSpPr>
          <p:cNvPr id="5" name="Shape 1"/>
          <p:cNvSpPr/>
          <p:nvPr/>
        </p:nvSpPr>
        <p:spPr>
          <a:xfrm>
            <a:off x="5175504" y="4206240"/>
            <a:ext cx="1828800" cy="0"/>
          </a:xfrm>
          <a:prstGeom prst="line">
            <a:avLst/>
          </a:prstGeom>
          <a:noFill/>
          <a:ln w="12700">
            <a:solidFill>
              <a:srgbClr val="B38645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914400" y="457200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2B8B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Saúde, performance e longevidade — estruturadas para quem sustenta a operação.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lenya/apps/site/public/brand/symbol/gol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10454335" y="320040"/>
            <a:ext cx="1280160" cy="9962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ORIGEM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77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Quarenta anos não viraram startup. Viraram clareza.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2103120"/>
            <a:ext cx="1109167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Plenya é a evolução da Nefroclínica, em Londrina desde 1985. Quatro décadas atendendo pessoas em quadros graves mostraram um padrão paralelo: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pessoas vivem mais, mas vivem pior.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Chegam ao consultório cedo, fragmentadas entre cinco ou seis especialistas que não conversam, com exames "normais" e energia, sono e disposição em queda.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Plenya nasce dessa percepção. Não é rebranding — é mudança de modelo: do reativo para o antecipatório, do isolado para o integrado.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B38645">
                <a:alpha val="4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537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PLENYA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743200" y="653796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SAÚDE · PERFORMANCE · LONGEVIDADE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601200" y="6537960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lenya/apps/site/public/brand/symbol/gol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10454335" y="320040"/>
            <a:ext cx="1280160" cy="9962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POSICIONAMENTO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77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Para quem é o Plenya.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21031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Profissionais entre 35 e 55 anos que sustentam a operação, percebem queda de energia, sono ou foco, e querem agir antes — não depois — do diagnóstico instalado.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86588" y="310896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041F2A"/>
          </a:solidFill>
          <a:ln w="9525">
            <a:solidFill>
              <a:srgbClr val="B3864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026768" y="2834640"/>
            <a:ext cx="640080" cy="640080"/>
          </a:xfrm>
          <a:prstGeom prst="ellipse">
            <a:avLst/>
          </a:prstGeom>
          <a:solidFill>
            <a:srgbClr val="063B4F"/>
          </a:solidFill>
          <a:ln w="15875">
            <a:solidFill>
              <a:srgbClr val="B386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26768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69468" y="3657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Integração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0908" y="416052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 um plano único, não cinco condutas isoladas de cinco especialistas que não conversam.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35628" y="310896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041F2A"/>
          </a:solidFill>
          <a:ln w="9525">
            <a:solidFill>
              <a:srgbClr val="B3864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775808" y="2834640"/>
            <a:ext cx="640080" cy="640080"/>
          </a:xfrm>
          <a:prstGeom prst="ellipse">
            <a:avLst/>
          </a:prstGeom>
          <a:solidFill>
            <a:srgbClr val="063B4F"/>
          </a:solidFill>
          <a:ln w="15875">
            <a:solidFill>
              <a:srgbClr val="B3864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75808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4518508" y="3657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Estrutura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609948" y="416052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Procura disciplina clínica e processo — não promessa rápida nem motivacional vazio.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84668" y="310896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041F2A"/>
          </a:solidFill>
          <a:ln w="9525">
            <a:solidFill>
              <a:srgbClr val="B3864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524848" y="2834640"/>
            <a:ext cx="640080" cy="640080"/>
          </a:xfrm>
          <a:prstGeom prst="ellipse">
            <a:avLst/>
          </a:prstGeom>
          <a:solidFill>
            <a:srgbClr val="063B4F"/>
          </a:solidFill>
          <a:ln w="15875">
            <a:solidFill>
              <a:srgbClr val="B3864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524848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8267548" y="3657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Continuidade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358988" y="416052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Aceita medir, ajustar e remedir ao longo do tempo. Sabe que saúde é trajetória, não checkbox.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B38645">
                <a:alpha val="4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6537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PLENYA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743200" y="653796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SAÚDE · PERFORMANCE · LONGEVIDADE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9601200" y="6537960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lenya/apps/site/public/brand/symbol/gol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10454335" y="320040"/>
            <a:ext cx="1280160" cy="9962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HONESTIDADE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77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Para quem o Plenya não é.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21031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Saúde estruturada não funciona para todo perfil. Reconhecer isso de saída economiza tempo dos dois lados.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86588" y="310896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041F2A"/>
          </a:solidFill>
          <a:ln w="9525">
            <a:solidFill>
              <a:srgbClr val="B3864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026768" y="2834640"/>
            <a:ext cx="640080" cy="640080"/>
          </a:xfrm>
          <a:prstGeom prst="ellipse">
            <a:avLst/>
          </a:prstGeom>
          <a:solidFill>
            <a:srgbClr val="063B4F"/>
          </a:solidFill>
          <a:ln w="15875">
            <a:solidFill>
              <a:srgbClr val="B386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26768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✕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69468" y="3657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Quick-fix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0908" y="416052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Quem procura resultado em semanas, sem disciplina e sem reavaliação contínua. O modelo é longitudinal.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35628" y="310896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041F2A"/>
          </a:solidFill>
          <a:ln w="9525">
            <a:solidFill>
              <a:srgbClr val="B3864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775808" y="2834640"/>
            <a:ext cx="640080" cy="640080"/>
          </a:xfrm>
          <a:prstGeom prst="ellipse">
            <a:avLst/>
          </a:prstGeom>
          <a:solidFill>
            <a:srgbClr val="063B4F"/>
          </a:solidFill>
          <a:ln w="15875">
            <a:solidFill>
              <a:srgbClr val="B3864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75808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✕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4518508" y="3657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Sintoma isolado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609948" y="416052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Quem busca tratar uma queixa pontual fora de um plano integrado. Para isso existe consulta de especialista.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84668" y="310896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041F2A"/>
          </a:solidFill>
          <a:ln w="9525">
            <a:solidFill>
              <a:srgbClr val="B3864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524848" y="2834640"/>
            <a:ext cx="640080" cy="640080"/>
          </a:xfrm>
          <a:prstGeom prst="ellipse">
            <a:avLst/>
          </a:prstGeom>
          <a:solidFill>
            <a:srgbClr val="063B4F"/>
          </a:solidFill>
          <a:ln w="15875">
            <a:solidFill>
              <a:srgbClr val="B3864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524848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✕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8267548" y="3657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Doença instalada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358988" y="416052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Quem precisa de cuidado hospitalar ou de alta complexidade — a Plenya antecipa, não substitui terapia intensiva.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B38645">
                <a:alpha val="4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6537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PLENYA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743200" y="653796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SAÚDE · PERFORMANCE · LONGEVIDADE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9601200" y="6537960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lenya/apps/site/public/brand/symbol/ocean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609448" y="-840572"/>
            <a:ext cx="10972800" cy="85391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188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0" b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“</a:t>
            </a:r>
            <a:endParaRPr lang="en-US" sz="18000" dirty="0"/>
          </a:p>
        </p:txBody>
      </p:sp>
      <p:sp>
        <p:nvSpPr>
          <p:cNvPr id="4" name="Text 1"/>
          <p:cNvSpPr/>
          <p:nvPr/>
        </p:nvSpPr>
        <p:spPr>
          <a:xfrm>
            <a:off x="914400" y="2377440"/>
            <a:ext cx="103601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i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Normal não é o mesmo que ótimo.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914400" y="4937760"/>
            <a:ext cx="731520" cy="0"/>
          </a:xfrm>
          <a:prstGeom prst="line">
            <a:avLst/>
          </a:prstGeom>
          <a:noFill/>
          <a:ln w="19050">
            <a:solidFill>
              <a:srgbClr val="B3864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50749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a diferença entre os dois é onde mora a produtividade da sua operação.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B38645">
                <a:alpha val="4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6537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PLENYA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743200" y="653796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SAÚDE · PERFORMANCE · LONGEVIDADE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601200" y="6537960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lenya/apps/site/public/brand/symbol/gol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10454335" y="320040"/>
            <a:ext cx="1280160" cy="9962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ENTREGAMOS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Método AGIR.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Quatro pilares interdependentes que sustentam saúde no tempo.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041F2A"/>
          </a:solidFill>
          <a:ln w="9525">
            <a:solidFill>
              <a:srgbClr val="B3864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874520"/>
            <a:ext cx="1280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spc="-200" kern="0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</a:t>
            </a:r>
            <a:endParaRPr lang="en-US" sz="13000" dirty="0"/>
          </a:p>
        </p:txBody>
      </p:sp>
      <p:sp>
        <p:nvSpPr>
          <p:cNvPr id="8" name="Text 5"/>
          <p:cNvSpPr/>
          <p:nvPr/>
        </p:nvSpPr>
        <p:spPr>
          <a:xfrm>
            <a:off x="1965960" y="21488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Atividade &amp; Alimentação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965960" y="2651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 corpo responde ao que você sustenta, não ao que tenta ocasionalmente.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965960" y="30175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Treino periodizado, nutrição personalizada e suplementação por evidência.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965960" y="3685032"/>
            <a:ext cx="2542032" cy="292608"/>
          </a:xfrm>
          <a:prstGeom prst="roundRect">
            <a:avLst>
              <a:gd name="adj" fmla="val 50000"/>
            </a:avLst>
          </a:prstGeom>
          <a:solidFill>
            <a:srgbClr val="063B4F"/>
          </a:solidFill>
          <a:ln w="6350">
            <a:solidFill>
              <a:srgbClr val="B3864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65960" y="368503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ROTINA · DISCIPLINA · HÁBITO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336792" y="192024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041F2A"/>
          </a:solidFill>
          <a:ln w="9525">
            <a:solidFill>
              <a:srgbClr val="B3864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73952" y="1874520"/>
            <a:ext cx="1280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spc="-200" kern="0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</a:t>
            </a:r>
            <a:endParaRPr lang="en-US" sz="13000" dirty="0"/>
          </a:p>
        </p:txBody>
      </p:sp>
      <p:sp>
        <p:nvSpPr>
          <p:cNvPr id="15" name="Text 12"/>
          <p:cNvSpPr/>
          <p:nvPr/>
        </p:nvSpPr>
        <p:spPr>
          <a:xfrm>
            <a:off x="7754112" y="21488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Gestão clínica &amp; metabólica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754112" y="2651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Você não melhora o que não acompanha.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754112" y="30175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Hormônios, marcadores inflamatórios, composição corporal, genética. Medicina de precisão.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754112" y="3685032"/>
            <a:ext cx="2697480" cy="292608"/>
          </a:xfrm>
          <a:prstGeom prst="roundRect">
            <a:avLst>
              <a:gd name="adj" fmla="val 50000"/>
            </a:avLst>
          </a:prstGeom>
          <a:solidFill>
            <a:srgbClr val="063B4F"/>
          </a:solidFill>
          <a:ln w="6350">
            <a:solidFill>
              <a:srgbClr val="B3864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54112" y="368503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 · CONSCIÊNCIA · CONTROLE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48640" y="416052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041F2A"/>
          </a:solidFill>
          <a:ln w="9525">
            <a:solidFill>
              <a:srgbClr val="B3864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5800" y="4114800"/>
            <a:ext cx="1280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spc="-200" kern="0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</a:t>
            </a:r>
            <a:endParaRPr lang="en-US" sz="13000" dirty="0"/>
          </a:p>
        </p:txBody>
      </p:sp>
      <p:sp>
        <p:nvSpPr>
          <p:cNvPr id="22" name="Text 19"/>
          <p:cNvSpPr/>
          <p:nvPr/>
        </p:nvSpPr>
        <p:spPr>
          <a:xfrm>
            <a:off x="1965960" y="43891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Integração corpo &amp; mente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1965960" y="4892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Sem alinhamento interno, não existe constância externa.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965960" y="52578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Saúde mental, vínculos, função cognitiva e equilíbrio emocional dentro do plano clínico.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965960" y="5925312"/>
            <a:ext cx="2386584" cy="292608"/>
          </a:xfrm>
          <a:prstGeom prst="roundRect">
            <a:avLst>
              <a:gd name="adj" fmla="val 50000"/>
            </a:avLst>
          </a:prstGeom>
          <a:solidFill>
            <a:srgbClr val="063B4F"/>
          </a:solidFill>
          <a:ln w="6350">
            <a:solidFill>
              <a:srgbClr val="B3864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965960" y="5925312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CONSCIÊNCIA · PROFUNDIDADE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336792" y="416052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041F2A"/>
          </a:solidFill>
          <a:ln w="9525">
            <a:solidFill>
              <a:srgbClr val="B3864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73952" y="4114800"/>
            <a:ext cx="1280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spc="-200" kern="0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</a:t>
            </a:r>
            <a:endParaRPr lang="en-US" sz="13000" dirty="0"/>
          </a:p>
        </p:txBody>
      </p:sp>
      <p:sp>
        <p:nvSpPr>
          <p:cNvPr id="29" name="Text 26"/>
          <p:cNvSpPr/>
          <p:nvPr/>
        </p:nvSpPr>
        <p:spPr>
          <a:xfrm>
            <a:off x="7754112" y="43891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Ritmo circadiano &amp; repouso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7754112" y="4892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Recuperação é parte do progresso.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754112" y="52578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Sono como pilar clínico, exposição à luz e cronobiologia individual.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754112" y="5925312"/>
            <a:ext cx="2386584" cy="292608"/>
          </a:xfrm>
          <a:prstGeom prst="roundRect">
            <a:avLst>
              <a:gd name="adj" fmla="val 50000"/>
            </a:avLst>
          </a:prstGeom>
          <a:solidFill>
            <a:srgbClr val="063B4F"/>
          </a:solidFill>
          <a:ln w="6350">
            <a:solidFill>
              <a:srgbClr val="B3864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754112" y="5925312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ENERGIA · SUSTENTABILIDADE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B38645">
                <a:alpha val="40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48640" y="6537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PLENYA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2743200" y="653796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SAÚDE · PERFORMANCE · LONGEVIDADE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9601200" y="6537960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lenya/apps/site/public/brand/symbol/gol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10454335" y="320040"/>
            <a:ext cx="1280160" cy="9962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500" kern="0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PILAR 01 — A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Atividade física, alimentação e suplementação inteligente.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TRÊS MOTORES QUE NENHUMA MEDICAÇÃO SUBSTITUI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2103120"/>
            <a:ext cx="5943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Movimento, comida e suplementação respondem por uma fração de saúde que a farmacologia simplesmente não alcança. Inflamação de baixo grau, sarcopenia, sensibilidade à insulina e microbiota só melhoram com o que se faz todos os dias.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Plenya periodiza treino com avaliação funcional, prescreve nutrição alinhada à gestão metabólica e usa suplementação por evidência — não modismo.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766560" y="2103120"/>
            <a:ext cx="4846320" cy="2377440"/>
          </a:xfrm>
          <a:prstGeom prst="roundRect">
            <a:avLst>
              <a:gd name="adj" fmla="val 3846"/>
            </a:avLst>
          </a:prstGeom>
          <a:solidFill>
            <a:srgbClr val="EAE7DA"/>
          </a:solidFill>
          <a:ln w="9525">
            <a:solidFill>
              <a:srgbClr val="B386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0" b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“</a:t>
            </a:r>
            <a:endParaRPr lang="en-US" sz="7000" dirty="0"/>
          </a:p>
        </p:txBody>
      </p:sp>
      <p:sp>
        <p:nvSpPr>
          <p:cNvPr id="9" name="Text 6"/>
          <p:cNvSpPr/>
          <p:nvPr/>
        </p:nvSpPr>
        <p:spPr>
          <a:xfrm>
            <a:off x="7406640" y="2331720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0A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medicação cuida do que ela alcança. O resto — insulina, inflamação, sarcopenia, microbiota — depende do que você faz todos os dias.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569339" y="5303520"/>
            <a:ext cx="731520" cy="731520"/>
          </a:xfrm>
          <a:prstGeom prst="ellipse">
            <a:avLst/>
          </a:prstGeom>
          <a:solidFill>
            <a:srgbClr val="041F2A"/>
          </a:solidFill>
          <a:ln w="15875">
            <a:solidFill>
              <a:srgbClr val="B3864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69339" y="5303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✦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48640" y="6080760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Treino periodizado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342257" y="5303520"/>
            <a:ext cx="731520" cy="731520"/>
          </a:xfrm>
          <a:prstGeom prst="ellipse">
            <a:avLst/>
          </a:prstGeom>
          <a:solidFill>
            <a:srgbClr val="041F2A"/>
          </a:solidFill>
          <a:ln w="15875">
            <a:solidFill>
              <a:srgbClr val="B3864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42257" y="5303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✦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321558" y="6080760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Nutrição personalizada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115175" y="5303520"/>
            <a:ext cx="731520" cy="731520"/>
          </a:xfrm>
          <a:prstGeom prst="ellipse">
            <a:avLst/>
          </a:prstGeom>
          <a:solidFill>
            <a:srgbClr val="041F2A"/>
          </a:solidFill>
          <a:ln w="15875">
            <a:solidFill>
              <a:srgbClr val="B3864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15175" y="5303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✦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6094476" y="6080760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Composição corporal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888093" y="5303520"/>
            <a:ext cx="731520" cy="731520"/>
          </a:xfrm>
          <a:prstGeom prst="ellipse">
            <a:avLst/>
          </a:prstGeom>
          <a:solidFill>
            <a:srgbClr val="041F2A"/>
          </a:solidFill>
          <a:ln w="15875">
            <a:solidFill>
              <a:srgbClr val="B3864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888093" y="5303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✦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8867394" y="6080760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Suplementação por evidência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B38645">
                <a:alpha val="4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6537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PLENYA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743200" y="653796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SAÚDE · PERFORMANCE · LONGEVIDADE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9601200" y="6537960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lenya/apps/site/public/brand/symbol/gol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10454335" y="320040"/>
            <a:ext cx="1280160" cy="9962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500" kern="0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PILAR 02 — G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Gestão clínica e metabólica.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PAINEL DE CONTROLE INTERNO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2103120"/>
            <a:ext cx="5943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Hormônios, biomarcadores, farmacologia guiada por dados. A parte do trabalho em que o médico deixa de ser conselheiro de estilo de vida e passa a ser piloto de um painel: testar, intervir, retestar, ajustar.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Painéis bioquímicos completos consolidam metabolismo, inflamação, hormônios, micronutrientes e risco oncológico em decisões clínicas integradas.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766560" y="2103120"/>
            <a:ext cx="4846320" cy="2377440"/>
          </a:xfrm>
          <a:prstGeom prst="roundRect">
            <a:avLst>
              <a:gd name="adj" fmla="val 3846"/>
            </a:avLst>
          </a:prstGeom>
          <a:solidFill>
            <a:srgbClr val="EAE7DA"/>
          </a:solidFill>
          <a:ln w="9525">
            <a:solidFill>
              <a:srgbClr val="B386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0" b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“</a:t>
            </a:r>
            <a:endParaRPr lang="en-US" sz="7000" dirty="0"/>
          </a:p>
        </p:txBody>
      </p:sp>
      <p:sp>
        <p:nvSpPr>
          <p:cNvPr id="9" name="Text 6"/>
          <p:cNvSpPr/>
          <p:nvPr/>
        </p:nvSpPr>
        <p:spPr>
          <a:xfrm>
            <a:off x="7406640" y="2331720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0A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Pedir TSH isolado é como medir a pressão na torneira sem verificar se a água está saindo. A gestão metabólica começa em pedir o exame certo.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569339" y="5303520"/>
            <a:ext cx="731520" cy="731520"/>
          </a:xfrm>
          <a:prstGeom prst="ellipse">
            <a:avLst/>
          </a:prstGeom>
          <a:solidFill>
            <a:srgbClr val="041F2A"/>
          </a:solidFill>
          <a:ln w="15875">
            <a:solidFill>
              <a:srgbClr val="B3864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69339" y="5303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✦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48640" y="6080760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Controle glicêmico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342257" y="5303520"/>
            <a:ext cx="731520" cy="731520"/>
          </a:xfrm>
          <a:prstGeom prst="ellipse">
            <a:avLst/>
          </a:prstGeom>
          <a:solidFill>
            <a:srgbClr val="041F2A"/>
          </a:solidFill>
          <a:ln w="15875">
            <a:solidFill>
              <a:srgbClr val="B3864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42257" y="5303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✦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321558" y="6080760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Painel hormonal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115175" y="5303520"/>
            <a:ext cx="731520" cy="731520"/>
          </a:xfrm>
          <a:prstGeom prst="ellipse">
            <a:avLst/>
          </a:prstGeom>
          <a:solidFill>
            <a:srgbClr val="041F2A"/>
          </a:solidFill>
          <a:ln w="15875">
            <a:solidFill>
              <a:srgbClr val="B3864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15175" y="5303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✦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6094476" y="6080760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Inflamação &amp; imunidade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888093" y="5303520"/>
            <a:ext cx="731520" cy="731520"/>
          </a:xfrm>
          <a:prstGeom prst="ellipse">
            <a:avLst/>
          </a:prstGeom>
          <a:solidFill>
            <a:srgbClr val="041F2A"/>
          </a:solidFill>
          <a:ln w="15875">
            <a:solidFill>
              <a:srgbClr val="B3864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888093" y="5303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✦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8867394" y="6080760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Risco cardiovascular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B38645">
                <a:alpha val="4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6537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PLENYA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743200" y="653796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SAÚDE · PERFORMANCE · LONGEVIDADE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9601200" y="6537960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lenya/apps/site/public/brand/symbol/gol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10454335" y="320040"/>
            <a:ext cx="1280160" cy="9962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500" kern="0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PILAR 03 — I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Integração mente e corpo.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PILAR QUE NINGUÉM PRESCREVE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2103120"/>
            <a:ext cx="5943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eixo entre psicologia, sistema imune e inflamação. Estados psicológicos alteram diretamente a função imune, hormonal e inflamatória — não como metáfora, como mecanismo.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Quando o eixo HPA está em alerta crônico, nenhum outro pilar funciona plenamente. Por isso saúde mental entra no plano clínico, não em paralelo.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766560" y="2103120"/>
            <a:ext cx="4846320" cy="2377440"/>
          </a:xfrm>
          <a:prstGeom prst="roundRect">
            <a:avLst>
              <a:gd name="adj" fmla="val 3846"/>
            </a:avLst>
          </a:prstGeom>
          <a:solidFill>
            <a:srgbClr val="EAE7DA"/>
          </a:solidFill>
          <a:ln w="9525">
            <a:solidFill>
              <a:srgbClr val="B386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0" b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“</a:t>
            </a:r>
            <a:endParaRPr lang="en-US" sz="7000" dirty="0"/>
          </a:p>
        </p:txBody>
      </p:sp>
      <p:sp>
        <p:nvSpPr>
          <p:cNvPr id="9" name="Text 6"/>
          <p:cNvSpPr/>
          <p:nvPr/>
        </p:nvSpPr>
        <p:spPr>
          <a:xfrm>
            <a:off x="7406640" y="2331720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0A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Otimizamos tudo o que a bioquímica permite. A PCR não descia. O que precisava de tratamento era a ansiedade que ela chamava de personalidade.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569339" y="5303520"/>
            <a:ext cx="731520" cy="731520"/>
          </a:xfrm>
          <a:prstGeom prst="ellipse">
            <a:avLst/>
          </a:prstGeom>
          <a:solidFill>
            <a:srgbClr val="041F2A"/>
          </a:solidFill>
          <a:ln w="15875">
            <a:solidFill>
              <a:srgbClr val="B3864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69339" y="5303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✦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48640" y="6080760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Avaliação psicológica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342257" y="5303520"/>
            <a:ext cx="731520" cy="731520"/>
          </a:xfrm>
          <a:prstGeom prst="ellipse">
            <a:avLst/>
          </a:prstGeom>
          <a:solidFill>
            <a:srgbClr val="041F2A"/>
          </a:solidFill>
          <a:ln w="15875">
            <a:solidFill>
              <a:srgbClr val="B3864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42257" y="5303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✦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321558" y="6080760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Técnicas de relaxamento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115175" y="5303520"/>
            <a:ext cx="731520" cy="731520"/>
          </a:xfrm>
          <a:prstGeom prst="ellipse">
            <a:avLst/>
          </a:prstGeom>
          <a:solidFill>
            <a:srgbClr val="041F2A"/>
          </a:solidFill>
          <a:ln w="15875">
            <a:solidFill>
              <a:srgbClr val="B3864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15175" y="5303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✦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6094476" y="6080760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Função cognitiva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888093" y="5303520"/>
            <a:ext cx="731520" cy="731520"/>
          </a:xfrm>
          <a:prstGeom prst="ellipse">
            <a:avLst/>
          </a:prstGeom>
          <a:solidFill>
            <a:srgbClr val="041F2A"/>
          </a:solidFill>
          <a:ln w="15875">
            <a:solidFill>
              <a:srgbClr val="B3864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888093" y="5303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✦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8867394" y="6080760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Vínculos &amp; suporte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B38645">
                <a:alpha val="4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6537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PLENYA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743200" y="653796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SAÚDE · PERFORMANCE · LONGEVIDADE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9601200" y="6537960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lenya/apps/site/public/brand/symbol/gol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10454335" y="320040"/>
            <a:ext cx="1280160" cy="9962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500" kern="0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PILAR 04 — R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Ritmo circadiano e repouso.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SUBSTRATO SOBRE O QUAL OS OUTROS PILARES OPERAM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2103120"/>
            <a:ext cx="5943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Cronobiologia organiza hormônios, metabolismo e cognição em ciclos de 24 horas. O núcleo supraquiasmático é o maestro: sem ele alinhado, nenhum outro pilar entrega o que poderia.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Sono, exposição à luz e horários de comer, treinar e descansar tratados como variáveis clínicas — não como recomendação genérica.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766560" y="2103120"/>
            <a:ext cx="4846320" cy="2377440"/>
          </a:xfrm>
          <a:prstGeom prst="roundRect">
            <a:avLst>
              <a:gd name="adj" fmla="val 3846"/>
            </a:avLst>
          </a:prstGeom>
          <a:solidFill>
            <a:srgbClr val="EAE7DA"/>
          </a:solidFill>
          <a:ln w="9525">
            <a:solidFill>
              <a:srgbClr val="B386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0" b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“</a:t>
            </a:r>
            <a:endParaRPr lang="en-US" sz="7000" dirty="0"/>
          </a:p>
        </p:txBody>
      </p:sp>
      <p:sp>
        <p:nvSpPr>
          <p:cNvPr id="9" name="Text 6"/>
          <p:cNvSpPr/>
          <p:nvPr/>
        </p:nvSpPr>
        <p:spPr>
          <a:xfrm>
            <a:off x="7406640" y="2331720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0A1F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Quando o substrato está comprometido, o resto do plano só performa parcialmente. Reorganizar o ritmo é onde a maioria dos ganhos rápidos aparece.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569339" y="5303520"/>
            <a:ext cx="731520" cy="731520"/>
          </a:xfrm>
          <a:prstGeom prst="ellipse">
            <a:avLst/>
          </a:prstGeom>
          <a:solidFill>
            <a:srgbClr val="041F2A"/>
          </a:solidFill>
          <a:ln w="15875">
            <a:solidFill>
              <a:srgbClr val="B3864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69339" y="5303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✦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48640" y="6080760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Qualidade do sono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342257" y="5303520"/>
            <a:ext cx="731520" cy="731520"/>
          </a:xfrm>
          <a:prstGeom prst="ellipse">
            <a:avLst/>
          </a:prstGeom>
          <a:solidFill>
            <a:srgbClr val="041F2A"/>
          </a:solidFill>
          <a:ln w="15875">
            <a:solidFill>
              <a:srgbClr val="B3864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42257" y="5303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✦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321558" y="6080760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Cronobiologia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115175" y="5303520"/>
            <a:ext cx="731520" cy="731520"/>
          </a:xfrm>
          <a:prstGeom prst="ellipse">
            <a:avLst/>
          </a:prstGeom>
          <a:solidFill>
            <a:srgbClr val="041F2A"/>
          </a:solidFill>
          <a:ln w="15875">
            <a:solidFill>
              <a:srgbClr val="B3864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15175" y="5303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✦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6094476" y="6080760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Exposição à luz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888093" y="5303520"/>
            <a:ext cx="731520" cy="731520"/>
          </a:xfrm>
          <a:prstGeom prst="ellipse">
            <a:avLst/>
          </a:prstGeom>
          <a:solidFill>
            <a:srgbClr val="041F2A"/>
          </a:solidFill>
          <a:ln w="15875">
            <a:solidFill>
              <a:srgbClr val="B3864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888093" y="5303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✦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8867394" y="6080760"/>
            <a:ext cx="2772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Recuperação ativa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B38645">
                <a:alpha val="4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6537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PLENYA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743200" y="653796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SAÚDE · PERFORMANCE · LONGEVIDADE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9601200" y="6537960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lenya/apps/site/public/brand/symbol/ocean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609448" y="-840572"/>
            <a:ext cx="10972800" cy="85391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MENSURAÇÃO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1371600"/>
            <a:ext cx="5943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0" b="1" spc="-800" kern="0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800</a:t>
            </a:r>
            <a:endParaRPr lang="en-US" sz="28000" dirty="0"/>
          </a:p>
        </p:txBody>
      </p:sp>
      <p:sp>
        <p:nvSpPr>
          <p:cNvPr id="5" name="Text 2"/>
          <p:cNvSpPr/>
          <p:nvPr/>
        </p:nvSpPr>
        <p:spPr>
          <a:xfrm>
            <a:off x="548640" y="4846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+ itens avaliados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675120" y="18288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Escore Plenya.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675120" y="2651760"/>
            <a:ext cx="731520" cy="0"/>
          </a:xfrm>
          <a:prstGeom prst="line">
            <a:avLst/>
          </a:prstGeom>
          <a:noFill/>
          <a:ln w="19050">
            <a:solidFill>
              <a:srgbClr val="B386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75120" y="283464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Exames laboratoriais, composição corporal, sintomas, histórico clínico, estilo de vida, saúde mental e marcadores funcionais consolidados em uma pontuação única e evolutiva.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mesmo paciente, reavaliado a cada ciclo, vê o número se mover. Saúde deixa de ser percepção e vira leitura — para o paciente e para o RH.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B38645">
                <a:alpha val="4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6537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PLENYA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743200" y="653796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SAÚDE · PERFORMANCE · LONGEVIDADE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9601200" y="6537960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lenya/apps/site/public/brand/symbol/gol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10454335" y="320040"/>
            <a:ext cx="1280160" cy="996233"/>
          </a:xfrm>
          <a:prstGeom prst="rect">
            <a:avLst/>
          </a:prstGeom>
        </p:spPr>
      </p:pic>
      <p:pic>
        <p:nvPicPr>
          <p:cNvPr id="3" name="Image 1" descr="/home/user/plenya/docs/decks/_assets/wave-bottom.svg">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7200" y="3657600"/>
            <a:ext cx="13258800" cy="34747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EQUIPE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548640" y="777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Quatro profissionais. Um plano único.</a:t>
            </a:r>
            <a:endParaRPr lang="en-US" sz="3600" dirty="0"/>
          </a:p>
        </p:txBody>
      </p:sp>
      <p:sp>
        <p:nvSpPr>
          <p:cNvPr id="6" name="Shape 2"/>
          <p:cNvSpPr/>
          <p:nvPr/>
        </p:nvSpPr>
        <p:spPr>
          <a:xfrm>
            <a:off x="582016" y="228600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041F2A"/>
          </a:solidFill>
          <a:ln w="9525">
            <a:solidFill>
              <a:srgbClr val="B38645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427836" y="2560320"/>
            <a:ext cx="914400" cy="914400"/>
          </a:xfrm>
          <a:prstGeom prst="ellipse">
            <a:avLst/>
          </a:prstGeom>
          <a:solidFill>
            <a:srgbClr val="063B4F"/>
          </a:solidFill>
          <a:ln w="15875">
            <a:solidFill>
              <a:srgbClr val="B38645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427836" y="2560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</a:t>
            </a:r>
            <a:endParaRPr lang="en-US" sz="3000" dirty="0"/>
          </a:p>
        </p:txBody>
      </p:sp>
      <p:sp>
        <p:nvSpPr>
          <p:cNvPr id="9" name="Shape 5"/>
          <p:cNvSpPr/>
          <p:nvPr/>
        </p:nvSpPr>
        <p:spPr>
          <a:xfrm>
            <a:off x="1363828" y="3703320"/>
            <a:ext cx="1042416" cy="0"/>
          </a:xfrm>
          <a:prstGeom prst="line">
            <a:avLst/>
          </a:prstGeom>
          <a:noFill/>
          <a:ln w="6350">
            <a:solidFill>
              <a:srgbClr val="B38645">
                <a:alpha val="6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19176" y="3840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Médico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764896" y="42976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Coordenador clínico. Define investigação, ajusta condutas, integra os pilares.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389224" y="228600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041F2A"/>
          </a:solidFill>
          <a:ln w="9525">
            <a:solidFill>
              <a:srgbClr val="B3864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235044" y="2560320"/>
            <a:ext cx="914400" cy="914400"/>
          </a:xfrm>
          <a:prstGeom prst="ellipse">
            <a:avLst/>
          </a:prstGeom>
          <a:solidFill>
            <a:srgbClr val="063B4F"/>
          </a:solidFill>
          <a:ln w="15875">
            <a:solidFill>
              <a:srgbClr val="B3864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235044" y="2560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</a:t>
            </a:r>
            <a:endParaRPr lang="en-US" sz="3000" dirty="0"/>
          </a:p>
        </p:txBody>
      </p:sp>
      <p:sp>
        <p:nvSpPr>
          <p:cNvPr id="15" name="Shape 11"/>
          <p:cNvSpPr/>
          <p:nvPr/>
        </p:nvSpPr>
        <p:spPr>
          <a:xfrm>
            <a:off x="4171036" y="3703320"/>
            <a:ext cx="1042416" cy="0"/>
          </a:xfrm>
          <a:prstGeom prst="line">
            <a:avLst/>
          </a:prstGeom>
          <a:noFill/>
          <a:ln w="6350">
            <a:solidFill>
              <a:srgbClr val="B38645">
                <a:alpha val="6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526384" y="3840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Nutricionista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572104" y="42976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Prescrição alinhada à gestão metabólica e ao ritmo de treino.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96432" y="228600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041F2A"/>
          </a:solidFill>
          <a:ln w="9525">
            <a:solidFill>
              <a:srgbClr val="B3864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042252" y="2560320"/>
            <a:ext cx="914400" cy="914400"/>
          </a:xfrm>
          <a:prstGeom prst="ellipse">
            <a:avLst/>
          </a:prstGeom>
          <a:solidFill>
            <a:srgbClr val="063B4F"/>
          </a:solidFill>
          <a:ln w="15875">
            <a:solidFill>
              <a:srgbClr val="B3864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042252" y="2560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</a:t>
            </a:r>
            <a:endParaRPr lang="en-US" sz="3000" dirty="0"/>
          </a:p>
        </p:txBody>
      </p:sp>
      <p:sp>
        <p:nvSpPr>
          <p:cNvPr id="21" name="Shape 17"/>
          <p:cNvSpPr/>
          <p:nvPr/>
        </p:nvSpPr>
        <p:spPr>
          <a:xfrm>
            <a:off x="6978244" y="3703320"/>
            <a:ext cx="1042416" cy="0"/>
          </a:xfrm>
          <a:prstGeom prst="line">
            <a:avLst/>
          </a:prstGeom>
          <a:noFill/>
          <a:ln w="6350">
            <a:solidFill>
              <a:srgbClr val="B38645">
                <a:alpha val="60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333592" y="3840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Psicólogo</a:t>
            </a:r>
            <a:endParaRPr 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6379312" y="42976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Saúde mental, relação com comida, sono e rotina entram no plano clínico.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9003640" y="228600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041F2A"/>
          </a:solidFill>
          <a:ln w="9525">
            <a:solidFill>
              <a:srgbClr val="B38645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9849460" y="2560320"/>
            <a:ext cx="914400" cy="914400"/>
          </a:xfrm>
          <a:prstGeom prst="ellipse">
            <a:avLst/>
          </a:prstGeom>
          <a:solidFill>
            <a:srgbClr val="063B4F"/>
          </a:solidFill>
          <a:ln w="15875">
            <a:solidFill>
              <a:srgbClr val="B38645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9849460" y="2560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</a:t>
            </a:r>
            <a:endParaRPr lang="en-US" sz="3000" dirty="0"/>
          </a:p>
        </p:txBody>
      </p:sp>
      <p:sp>
        <p:nvSpPr>
          <p:cNvPr id="27" name="Shape 23"/>
          <p:cNvSpPr/>
          <p:nvPr/>
        </p:nvSpPr>
        <p:spPr>
          <a:xfrm>
            <a:off x="9785452" y="3703320"/>
            <a:ext cx="1042416" cy="0"/>
          </a:xfrm>
          <a:prstGeom prst="line">
            <a:avLst/>
          </a:prstGeom>
          <a:noFill/>
          <a:ln w="6350">
            <a:solidFill>
              <a:srgbClr val="B38645">
                <a:alpha val="60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9140800" y="3840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Educador físico</a:t>
            </a:r>
            <a:endParaRPr lang="en-US" sz="1700" dirty="0"/>
          </a:p>
        </p:txBody>
      </p:sp>
      <p:sp>
        <p:nvSpPr>
          <p:cNvPr id="29" name="Text 25"/>
          <p:cNvSpPr/>
          <p:nvPr/>
        </p:nvSpPr>
        <p:spPr>
          <a:xfrm>
            <a:off x="9186520" y="42976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Programa individualizado, periodizado e reavaliado — não academia genérica.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548640" y="562356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Os quatro conversam. O colaborador recebe um plano, não quatro contas.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B38645">
                <a:alpha val="4000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48640" y="6537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PLENYA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2743200" y="653796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SAÚDE · PERFORMANCE · LONGEVIDADE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9601200" y="6537960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lenya/docs/decks/_assets/wave-bottom.svg">    </p:cNvPr>
          <p:cNvPicPr>
            <a:picLocks noChangeAspect="1"/>
          </p:cNvPicPr>
          <p:nvPr/>
        </p:nvPicPr>
        <p:blipFill>
          <a:blip r:embed="rId1">
            <a:alphaModFix amt="7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57200" y="3657600"/>
            <a:ext cx="13258800" cy="3474720"/>
          </a:xfrm>
          <a:prstGeom prst="rect">
            <a:avLst/>
          </a:prstGeom>
        </p:spPr>
      </p:pic>
      <p:pic>
        <p:nvPicPr>
          <p:cNvPr id="3" name="Image 1" descr="/home/user/plenya/apps/site/public/brand/symbol/gold.png">    </p:cNvPr>
          <p:cNvPicPr>
            <a:picLocks noChangeAspect="1"/>
          </p:cNvPicPr>
          <p:nvPr/>
        </p:nvPicPr>
        <p:blipFill>
          <a:blip r:embed="rId3">
            <a:alphaModFix amt="22000"/>
          </a:blip>
          <a:stretch>
            <a:fillRect/>
          </a:stretch>
        </p:blipFill>
        <p:spPr>
          <a:xfrm>
            <a:off x="10454335" y="320040"/>
            <a:ext cx="1280160" cy="99623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JORNADA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548640" y="777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Como o colaborador passa pelo programa.</a:t>
            </a:r>
            <a:endParaRPr lang="en-US" sz="3600" dirty="0"/>
          </a:p>
        </p:txBody>
      </p:sp>
      <p:sp>
        <p:nvSpPr>
          <p:cNvPr id="6" name="Shape 2"/>
          <p:cNvSpPr/>
          <p:nvPr/>
        </p:nvSpPr>
        <p:spPr>
          <a:xfrm>
            <a:off x="1188720" y="3337560"/>
            <a:ext cx="1231331" cy="0"/>
          </a:xfrm>
          <a:prstGeom prst="line">
            <a:avLst/>
          </a:prstGeom>
          <a:noFill/>
          <a:ln w="12700">
            <a:solidFill>
              <a:srgbClr val="B38645">
                <a:alpha val="6000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3334451" y="3337560"/>
            <a:ext cx="1231331" cy="0"/>
          </a:xfrm>
          <a:prstGeom prst="line">
            <a:avLst/>
          </a:prstGeom>
          <a:noFill/>
          <a:ln w="12700">
            <a:solidFill>
              <a:srgbClr val="B38645">
                <a:alpha val="6000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480182" y="3337560"/>
            <a:ext cx="1231331" cy="0"/>
          </a:xfrm>
          <a:prstGeom prst="line">
            <a:avLst/>
          </a:prstGeom>
          <a:noFill/>
          <a:ln w="12700">
            <a:solidFill>
              <a:srgbClr val="B38645">
                <a:alpha val="6000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625913" y="3337560"/>
            <a:ext cx="1231331" cy="0"/>
          </a:xfrm>
          <a:prstGeom prst="line">
            <a:avLst/>
          </a:prstGeom>
          <a:noFill/>
          <a:ln w="12700">
            <a:solidFill>
              <a:srgbClr val="B38645">
                <a:alpha val="6000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771644" y="3337560"/>
            <a:ext cx="1231331" cy="0"/>
          </a:xfrm>
          <a:prstGeom prst="line">
            <a:avLst/>
          </a:prstGeom>
          <a:noFill/>
          <a:ln w="12700">
            <a:solidFill>
              <a:srgbClr val="B38645">
                <a:alpha val="60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2926080"/>
            <a:ext cx="914400" cy="914400"/>
          </a:xfrm>
          <a:prstGeom prst="ellipse">
            <a:avLst/>
          </a:prstGeom>
          <a:solidFill>
            <a:srgbClr val="041F2A"/>
          </a:solidFill>
          <a:ln w="15875">
            <a:solidFill>
              <a:srgbClr val="B3864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31520" y="2926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182880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Acolhimento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91440" y="45262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Briefing inicial e mapeamento de prioridades clínicas.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877251" y="2926080"/>
            <a:ext cx="914400" cy="914400"/>
          </a:xfrm>
          <a:prstGeom prst="ellipse">
            <a:avLst/>
          </a:prstGeom>
          <a:solidFill>
            <a:srgbClr val="041F2A"/>
          </a:solidFill>
          <a:ln w="15875">
            <a:solidFill>
              <a:srgbClr val="B3864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877251" y="2926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</a:t>
            </a:r>
            <a:endParaRPr lang="en-US" sz="3600" dirty="0"/>
          </a:p>
        </p:txBody>
      </p:sp>
      <p:sp>
        <p:nvSpPr>
          <p:cNvPr id="17" name="Text 13"/>
          <p:cNvSpPr/>
          <p:nvPr/>
        </p:nvSpPr>
        <p:spPr>
          <a:xfrm>
            <a:off x="2328611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Avaliação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237171" y="45262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Painel laboratorial, composição corporal e funcional completos.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022982" y="2926080"/>
            <a:ext cx="914400" cy="914400"/>
          </a:xfrm>
          <a:prstGeom prst="ellipse">
            <a:avLst/>
          </a:prstGeom>
          <a:solidFill>
            <a:srgbClr val="041F2A"/>
          </a:solidFill>
          <a:ln w="15875">
            <a:solidFill>
              <a:srgbClr val="B3864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022982" y="2926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</a:t>
            </a:r>
            <a:endParaRPr lang="en-US" sz="3600" dirty="0"/>
          </a:p>
        </p:txBody>
      </p:sp>
      <p:sp>
        <p:nvSpPr>
          <p:cNvPr id="21" name="Text 17"/>
          <p:cNvSpPr/>
          <p:nvPr/>
        </p:nvSpPr>
        <p:spPr>
          <a:xfrm>
            <a:off x="4474342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Escore inicial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382902" y="45262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Pontuação base sobre os 800+ itens medidos.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7168713" y="2926080"/>
            <a:ext cx="914400" cy="914400"/>
          </a:xfrm>
          <a:prstGeom prst="ellipse">
            <a:avLst/>
          </a:prstGeom>
          <a:solidFill>
            <a:srgbClr val="041F2A"/>
          </a:solidFill>
          <a:ln w="15875">
            <a:solidFill>
              <a:srgbClr val="B38645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168713" y="2926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</a:t>
            </a:r>
            <a:endParaRPr lang="en-US" sz="3600" dirty="0"/>
          </a:p>
        </p:txBody>
      </p:sp>
      <p:sp>
        <p:nvSpPr>
          <p:cNvPr id="25" name="Text 21"/>
          <p:cNvSpPr/>
          <p:nvPr/>
        </p:nvSpPr>
        <p:spPr>
          <a:xfrm>
            <a:off x="6620073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Plano integrado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6528633" y="45262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Equipe alinha condutas dos quatro pilares em plano único.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9314444" y="2926080"/>
            <a:ext cx="914400" cy="914400"/>
          </a:xfrm>
          <a:prstGeom prst="ellipse">
            <a:avLst/>
          </a:prstGeom>
          <a:solidFill>
            <a:srgbClr val="041F2A"/>
          </a:solidFill>
          <a:ln w="15875">
            <a:solidFill>
              <a:srgbClr val="B38645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9314444" y="2926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</a:t>
            </a:r>
            <a:endParaRPr lang="en-US" sz="3600" dirty="0"/>
          </a:p>
        </p:txBody>
      </p:sp>
      <p:sp>
        <p:nvSpPr>
          <p:cNvPr id="29" name="Text 25"/>
          <p:cNvSpPr/>
          <p:nvPr/>
        </p:nvSpPr>
        <p:spPr>
          <a:xfrm>
            <a:off x="8765804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Execução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8674364" y="45262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Consultas e checkpoints com ajustes em tempo real.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11460175" y="2926080"/>
            <a:ext cx="914400" cy="914400"/>
          </a:xfrm>
          <a:prstGeom prst="ellipse">
            <a:avLst/>
          </a:prstGeom>
          <a:solidFill>
            <a:srgbClr val="041F2A"/>
          </a:solidFill>
          <a:ln w="15875">
            <a:solidFill>
              <a:srgbClr val="B38645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460175" y="2926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</a:t>
            </a:r>
            <a:endParaRPr lang="en-US" sz="3600" dirty="0"/>
          </a:p>
        </p:txBody>
      </p:sp>
      <p:sp>
        <p:nvSpPr>
          <p:cNvPr id="33" name="Text 29"/>
          <p:cNvSpPr/>
          <p:nvPr/>
        </p:nvSpPr>
        <p:spPr>
          <a:xfrm>
            <a:off x="10911535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Reavaliação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10820095" y="45262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Escore se move. Ciclo se fecha e recomeça.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B38645">
                <a:alpha val="40000"/>
              </a:srgbClr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48640" y="6537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PLENYA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2743200" y="653796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SAÚDE · PERFORMANCE · LONGEVIDADE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9601200" y="6537960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lenya/apps/site/public/brand/symbol/gol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10454335" y="320040"/>
            <a:ext cx="1280160" cy="9962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DIFERENCIAL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77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Saúde não é sobre reagir. É sobre antecipar.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63728" y="2103120"/>
            <a:ext cx="5303520" cy="3657600"/>
          </a:xfrm>
          <a:prstGeom prst="roundRect">
            <a:avLst>
              <a:gd name="adj" fmla="val 2000"/>
            </a:avLst>
          </a:prstGeom>
          <a:solidFill>
            <a:srgbClr val="041F2A"/>
          </a:solidFill>
          <a:ln w="6350">
            <a:solidFill>
              <a:srgbClr val="5A6B7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8048" y="2240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A6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TRADICIONAL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38048" y="2606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2B8B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Reativo e fragmentado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38048" y="3200400"/>
            <a:ext cx="548640" cy="0"/>
          </a:xfrm>
          <a:prstGeom prst="line">
            <a:avLst/>
          </a:prstGeom>
          <a:noFill/>
          <a:ln w="12700">
            <a:solidFill>
              <a:srgbClr val="5A6B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8048" y="338328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○"/>
            </a:pPr>
            <a:r>
              <a:rPr lang="en-US" sz="120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Trata sintoma quando aparece, não a causa subjacente.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○"/>
            </a:pPr>
            <a:r>
              <a:rPr lang="en-US" sz="120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especialista isolado, sem plano integrado.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○"/>
            </a:pPr>
            <a:r>
              <a:rPr lang="en-US" sz="120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 episódica: anamnese, exame, alta.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○"/>
            </a:pPr>
            <a:r>
              <a:rPr lang="en-US" sz="120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 binária: ausência de doença diagnosticada.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○"/>
            </a:pPr>
            <a:r>
              <a:rPr lang="en-US" sz="120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Resposta lenta a alterações funcionais e subclínicas.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24448" y="2103120"/>
            <a:ext cx="5303520" cy="3657600"/>
          </a:xfrm>
          <a:prstGeom prst="roundRect">
            <a:avLst>
              <a:gd name="adj" fmla="val 2000"/>
            </a:avLst>
          </a:prstGeom>
          <a:solidFill>
            <a:srgbClr val="041F2A"/>
          </a:solidFill>
          <a:ln w="12700">
            <a:solidFill>
              <a:srgbClr val="B3864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98768" y="2240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PLENYA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598768" y="2606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E7D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Antecipatório e integrado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598768" y="3200400"/>
            <a:ext cx="548640" cy="0"/>
          </a:xfrm>
          <a:prstGeom prst="line">
            <a:avLst/>
          </a:prstGeom>
          <a:noFill/>
          <a:ln w="12700">
            <a:solidFill>
              <a:srgbClr val="B3864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98768" y="338328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 saúde antes da queda funcional aparecer.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Quatro profissionais que conversam, plano único.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Acompanhamento contínuo com ciclo de reavaliação.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 evolutiva: trajetória do Escore Plenya.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Ajustes baseados em dados ao longo do tempo.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B38645">
                <a:alpha val="4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6537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PLENYA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743200" y="653796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SAÚDE · PERFORMANCE · LONGEVIDADE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9601200" y="6537960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386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3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lenya/apps/site/public/brand/symbol/gol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609448" y="-840572"/>
            <a:ext cx="10972800" cy="8539144"/>
          </a:xfrm>
          <a:prstGeom prst="rect">
            <a:avLst/>
          </a:prstGeom>
        </p:spPr>
      </p:pic>
      <p:pic>
        <p:nvPicPr>
          <p:cNvPr id="3" name="Image 1" descr="/home/user/plenya/apps/site/public/brand/wordmark/cr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648" y="1828800"/>
            <a:ext cx="5486400" cy="81207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175504" y="3017520"/>
            <a:ext cx="1828800" cy="0"/>
          </a:xfrm>
          <a:prstGeom prst="line">
            <a:avLst/>
          </a:prstGeom>
          <a:noFill/>
          <a:ln w="12700">
            <a:solidFill>
              <a:srgbClr val="B38645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914400" y="324612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i="1" dirty="0">
                <a:solidFill>
                  <a:srgbClr val="B3864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Viva bem, viva mais.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914400" y="438912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800" kern="0" dirty="0">
                <a:solidFill>
                  <a:srgbClr val="92B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SAÚDE · PERFORMANCE · LONGEVIDADE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914400" y="576072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E7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plenyasaude.com.br   ·   Londrina · PR   ·   contato@plenyasaude.com.br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Plenya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Plenya — Saúde corporativa estruturada</dc:title>
  <dc:subject>Saúde, Performance &amp; Longevidade</dc:subject>
  <dc:creator>Plenya</dc:creator>
  <cp:lastModifiedBy>Plenya</cp:lastModifiedBy>
  <cp:revision>1</cp:revision>
  <dcterms:created xsi:type="dcterms:W3CDTF">2026-05-15T02:03:58Z</dcterms:created>
  <dcterms:modified xsi:type="dcterms:W3CDTF">2026-05-15T02:03:58Z</dcterms:modified>
</cp:coreProperties>
</file>